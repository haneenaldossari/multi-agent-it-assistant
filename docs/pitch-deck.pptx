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50292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IBM Plex Sans Arabic"/>
              </a:rPr>
              <a:t>Agenticthon — Multi-Agent Systems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5600" b="1" i="0">
                <a:solidFill>
                  <a:srgbClr val="F5F5F5"/>
                </a:solidFill>
                <a:latin typeface="IBM Plex Sans Arabic"/>
              </a:rPr>
              <a:t>المساعد التقني متعدد الوكلاء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34640"/>
            <a:ext cx="85313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9CA3AF"/>
                </a:solidFill>
                <a:latin typeface="IBM Plex Sans Arabic"/>
              </a:rPr>
              <a:t>Multi-Agent IT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20440"/>
            <a:ext cx="9445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2200" b="0" i="1">
                <a:solidFill>
                  <a:srgbClr val="F5F5F5"/>
                </a:solidFill>
                <a:latin typeface="IBM Plex Sans Arabic"/>
              </a:rPr>
              <a:t>نظام عصبي ذكي للدعم التقني المؤسسي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6908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IBM Plex Sans Arabic"/>
              </a:rPr>
              <a:t>An AI nervous system for Saudi enterprise IT support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22876" y="5349240"/>
            <a:ext cx="2743200" cy="0"/>
          </a:xfrm>
          <a:prstGeom prst="line">
            <a:avLst/>
          </a:prstGeom>
          <a:ln w="9525">
            <a:solidFill>
              <a:srgbClr val="1F1F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640580" y="5266944"/>
            <a:ext cx="164592" cy="164592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4980" y="5266944"/>
            <a:ext cx="164592" cy="16459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9380" y="5266944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83780" y="5266944"/>
            <a:ext cx="164592" cy="1645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5852160"/>
            <a:ext cx="8531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F5F5F5"/>
                </a:solidFill>
                <a:latin typeface="IBM Plex Sans Arabic"/>
              </a:rPr>
              <a:t>Haneen Aldossari    •    Noura Aldossari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8531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9CA3AF"/>
                </a:solidFill>
                <a:latin typeface="IBM Plex Sans Arabic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4400" b="1" i="0">
                <a:solidFill>
                  <a:srgbClr val="F5F5F5"/>
                </a:solidFill>
                <a:latin typeface="IBM Plex Sans Arabic"/>
              </a:rPr>
              <a:t>المشكلة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i="0">
                <a:solidFill>
                  <a:srgbClr val="9CA3AF"/>
                </a:solidFill>
                <a:latin typeface="IBM Plex Sans Arabic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0879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800" b="0" i="1">
                <a:solidFill>
                  <a:srgbClr val="F5F5F5"/>
                </a:solidFill>
                <a:latin typeface="IBM Plex Sans Arabic"/>
              </a:rPr>
              <a:t>“موظف يفتح تذكرة دعم لمشكلة بسيطة، وينتظر ٣ ساعات قبل أن تصل الإجابة. هذا واقع يومي في الشركات السعودية.”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900" b="1" i="0">
                <a:solidFill>
                  <a:srgbClr val="F5F5F5"/>
                </a:solidFill>
                <a:latin typeface="IBM Plex Sans Arabic"/>
              </a:rPr>
              <a:t>١.  مشاكل متكررة تستهلك ساعات الدعم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6440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9CA3AF"/>
                </a:solidFill>
                <a:latin typeface="IBM Plex Sans Arabic"/>
              </a:rPr>
              <a:t>Repetitive tickets eat IT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38728"/>
            <a:ext cx="10908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9CA3AF"/>
                </a:solidFill>
                <a:latin typeface="IBM Plex Sans Arabic"/>
              </a:rPr>
              <a:t>٨٠٪ من التذاكر اليومية تتكرر — VPN، password، email sync. كل واحدة تأخذ ساعات، معظمها انتظار في طوابير.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900" b="1" i="0">
                <a:solidFill>
                  <a:srgbClr val="F5F5F5"/>
                </a:solidFill>
                <a:latin typeface="IBM Plex Sans Arabic"/>
              </a:rPr>
              <a:t>٢.  فجوة لغوية في الأدوات الحالية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9CA3AF"/>
                </a:solidFill>
                <a:latin typeface="IBM Plex Sans Arabic"/>
              </a:rPr>
              <a:t>English-only tools miss the Saudi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90288"/>
            <a:ext cx="10908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9CA3AF"/>
                </a:solidFill>
                <a:latin typeface="IBM Plex Sans Arabic"/>
              </a:rPr>
              <a:t>الموظف يتحدث عربي ويستخدم المصطلحات التقنية بالإنجليزية بشكل طبيعي. الأدوات الموجودة لا تفهم هذا المزج المحلي.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83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900" b="1" i="0">
                <a:solidFill>
                  <a:srgbClr val="F5F5F5"/>
                </a:solidFill>
                <a:latin typeface="IBM Plex Sans Arabic"/>
              </a:rPr>
              <a:t>٣.  معرفة تضيع مع كل تذكرة تُحَل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67528"/>
            <a:ext cx="10908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1">
                <a:solidFill>
                  <a:srgbClr val="9CA3AF"/>
                </a:solidFill>
                <a:latin typeface="IBM Plex Sans Arabic"/>
              </a:rPr>
              <a:t>No collective memory, no NCA audit trail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41848"/>
            <a:ext cx="109087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9CA3AF"/>
                </a:solidFill>
                <a:latin typeface="IBM Plex Sans Arabic"/>
              </a:rPr>
              <a:t>لا ذاكرة مؤسسية، لا اكتشاف للأنماط، ولا توثيق آلي لمتطلبات NCA Essential Cybersecurity Controls.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1">
                <a:solidFill>
                  <a:srgbClr val="9CA3AF"/>
                </a:solidFill>
                <a:latin typeface="IBM Plex Sans Arabic"/>
              </a:rPr>
              <a:t>النتيجة: شركات تنفق الملايين، موظفون محبَطون، وفرق IT غارقة في المتكرر بدلاً من الهندسة الحقيقية.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4400" b="1" i="0">
                <a:solidFill>
                  <a:srgbClr val="F5F5F5"/>
                </a:solidFill>
                <a:latin typeface="IBM Plex Sans Arabic"/>
              </a:rPr>
              <a:t>الحل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i="0">
                <a:solidFill>
                  <a:srgbClr val="9CA3AF"/>
                </a:solidFill>
                <a:latin typeface="IBM Plex Sans Arabic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600" b="0" i="0">
                <a:solidFill>
                  <a:srgbClr val="F5F5F5"/>
                </a:solidFill>
                <a:latin typeface="IBM Plex Sans Arabic"/>
              </a:rPr>
              <a:t>مساعد دعم تقني ذكي يعيش على شاشة الموظف ويتفاعل معه بالعربية والإنجليزية. يضغط زراً واحداً، يصف مشكلته بصوته، ويحصل على إرشاد بصري وتوجيه فوري بلغته.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0" i="0">
                <a:solidFill>
                  <a:srgbClr val="9CA3AF"/>
                </a:solidFill>
                <a:latin typeface="IBM Plex Sans Arabic"/>
              </a:rPr>
              <a:t>خلف الكواليس، أربعة وكلاء يتعاونون كفريق متكامل لحل المشكلة: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3076" y="2971800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6" y="2971800"/>
            <a:ext cx="5225796" cy="54864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79108" y="3218688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200" b="1" i="0">
                <a:solidFill>
                  <a:srgbClr val="4A9EFF"/>
                </a:solidFill>
                <a:latin typeface="IBM Plex Sans Arabic"/>
              </a:rPr>
              <a:t>وكيل الذاكرة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9108" y="3685032"/>
            <a:ext cx="47137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9CA3AF"/>
                </a:solidFill>
                <a:latin typeface="IBM Plex Sans Arabic"/>
              </a:rPr>
              <a:t>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9108" y="4050792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F5F5F5"/>
                </a:solidFill>
                <a:latin typeface="IBM Plex Sans Arabic"/>
              </a:rPr>
              <a:t>يستذكر البلاغات السابقة ويكتشف الأنماط في الشركة. يربط البلاغات المتعددة عبر موظفين مختلفين لاكتشاف الحوادث الجماعية.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71800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5225796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18688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200" b="1" i="0">
                <a:solidFill>
                  <a:srgbClr val="4ADE80"/>
                </a:solidFill>
                <a:latin typeface="IBM Plex Sans Arabic"/>
              </a:rPr>
              <a:t>وكيل المُحلِّل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85032"/>
            <a:ext cx="47137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9CA3AF"/>
                </a:solidFill>
                <a:latin typeface="IBM Plex Sans Arabic"/>
              </a:rPr>
              <a:t>Resolver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050792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F5F5F5"/>
                </a:solidFill>
                <a:latin typeface="IBM Plex Sans Arabic"/>
              </a:rPr>
              <a:t>يقرأ الشاشة، يفهم سؤال الموظف، ويقترح خطوة عملية واضحة مع تحديد الموقع الذي يجب الضغط عليه.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3076" y="4864608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23076" y="4864608"/>
            <a:ext cx="5225796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9108" y="5111496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200" b="1" i="0">
                <a:solidFill>
                  <a:srgbClr val="F87171"/>
                </a:solidFill>
                <a:latin typeface="IBM Plex Sans Arabic"/>
              </a:rPr>
              <a:t>وكيل الحارس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9108" y="5577840"/>
            <a:ext cx="47137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9CA3AF"/>
                </a:solidFill>
                <a:latin typeface="IBM Plex Sans Arabic"/>
              </a:rPr>
              <a:t>Guardian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9108" y="5943600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F5F5F5"/>
                </a:solidFill>
                <a:latin typeface="IBM Plex Sans Arabic"/>
              </a:rPr>
              <a:t>يراجع كل إجراء أمام سياسات الشركة وضوابط الـ NCA قبل تنفيذه. يملك صلاحية رفض الإجراءات الخطرة واقتراح بدائل آمنة.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64608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64608"/>
            <a:ext cx="5225796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111496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2200" b="1" i="0">
                <a:solidFill>
                  <a:srgbClr val="A78BFA"/>
                </a:solidFill>
                <a:latin typeface="IBM Plex Sans Arabic"/>
              </a:rPr>
              <a:t>وكيل المُبلِّغ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577840"/>
            <a:ext cx="47137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 i="0">
                <a:solidFill>
                  <a:srgbClr val="9CA3AF"/>
                </a:solidFill>
                <a:latin typeface="IBM Plex Sans Arabic"/>
              </a:rPr>
              <a:t>Reporter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943600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300" b="0" i="0">
                <a:solidFill>
                  <a:srgbClr val="F5F5F5"/>
                </a:solidFill>
                <a:latin typeface="IBM Plex Sans Arabic"/>
              </a:rPr>
              <a:t>يجمّع الرد النهائي للموظف ويُنبّه الفريق المختص تلقائياً، ويولّد سجلاً مدقَّقاً لكل عملية يطابق متطلبات NCA.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4400" b="1" i="0">
                <a:solidFill>
                  <a:srgbClr val="F5F5F5"/>
                </a:solidFill>
                <a:latin typeface="IBM Plex Sans Arabic"/>
              </a:rPr>
              <a:t>كيف يعمل النظام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i="0">
                <a:solidFill>
                  <a:srgbClr val="9CA3AF"/>
                </a:solidFill>
                <a:latin typeface="IBM Plex Sans Arabic"/>
              </a:rPr>
              <a:t>How It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64574" y="1920240"/>
            <a:ext cx="2521458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56014" y="2148840"/>
            <a:ext cx="2338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i="0">
                <a:solidFill>
                  <a:srgbClr val="F5F5F5"/>
                </a:solidFill>
                <a:latin typeface="IBM Plex Sans Arabic"/>
              </a:rPr>
              <a:t>المستخدم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6014" y="25603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BM Plex Sans Arabic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56014" y="2880360"/>
            <a:ext cx="2338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100" b="0" i="0">
                <a:solidFill>
                  <a:srgbClr val="F5F5F5"/>
                </a:solidFill>
                <a:latin typeface="IBM Plex Sans Arabic"/>
              </a:rPr>
              <a:t>يضغط hotkey ويصف المشكلة بصوته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6014" y="32461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Sans Arabic"/>
              </a:rPr>
              <a:t>User presses hotkey, speaks Arabic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8814" y="260604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9CA3AF"/>
                </a:solidFill>
                <a:latin typeface="IBM Plex Sans Arabic"/>
              </a:rPr>
              <a:t>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7356" y="1920240"/>
            <a:ext cx="2521458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2148840"/>
            <a:ext cx="2338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i="0">
                <a:solidFill>
                  <a:srgbClr val="F5F5F5"/>
                </a:solidFill>
                <a:latin typeface="IBM Plex Sans Arabic"/>
              </a:rPr>
              <a:t>التقاط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25603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BM Plex Sans Arabic"/>
              </a:rPr>
              <a:t>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2880360"/>
            <a:ext cx="2338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100" b="0" i="0">
                <a:solidFill>
                  <a:srgbClr val="F5F5F5"/>
                </a:solidFill>
                <a:latin typeface="IBM Plex Sans Arabic"/>
              </a:rPr>
              <a:t>لقطة شاشة + تحويل صوت لنص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32461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Sans Arabic"/>
              </a:rPr>
              <a:t>Screenshot + voice-to-text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1596" y="260604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9CA3AF"/>
                </a:solidFill>
                <a:latin typeface="IBM Plex Sans Arabic"/>
              </a:rP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138" y="1920240"/>
            <a:ext cx="2521458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1578" y="2148840"/>
            <a:ext cx="2338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i="0">
                <a:solidFill>
                  <a:srgbClr val="F5F5F5"/>
                </a:solidFill>
                <a:latin typeface="IBM Plex Sans Arabic"/>
              </a:rPr>
              <a:t>وكلاء سند يتعاونون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1578" y="25603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BM Plex Sans Arabic"/>
              </a:rPr>
              <a:t>Agents Collaborate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1578" y="2880360"/>
            <a:ext cx="2338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100" b="0" i="0">
                <a:solidFill>
                  <a:srgbClr val="F5F5F5"/>
                </a:solidFill>
                <a:latin typeface="IBM Plex Sans Arabic"/>
              </a:rPr>
              <a:t>Memory → Resolver → Guardian → Reporter</a:t>
            </a:r>
          </a:p>
        </p:txBody>
      </p:sp>
      <p:sp>
        <p:nvSpPr>
          <p:cNvPr id="21" name="Oval 20"/>
          <p:cNvSpPr/>
          <p:nvPr/>
        </p:nvSpPr>
        <p:spPr>
          <a:xfrm>
            <a:off x="4349115" y="3282696"/>
            <a:ext cx="109728" cy="109728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13707" y="32826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78299" y="3282696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2891" y="3282696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24378" y="2606040"/>
            <a:ext cx="365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 i="0">
                <a:solidFill>
                  <a:srgbClr val="9CA3AF"/>
                </a:solidFill>
                <a:latin typeface="IBM Plex Sans Arabic"/>
              </a:rPr>
              <a:t>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1920240"/>
            <a:ext cx="2521458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148840"/>
            <a:ext cx="233857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600" b="1" i="0">
                <a:solidFill>
                  <a:srgbClr val="F5F5F5"/>
                </a:solidFill>
                <a:latin typeface="IBM Plex Sans Arabic"/>
              </a:rPr>
              <a:t>الاستجابة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25603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IBM Plex Sans Arabic"/>
              </a:rPr>
              <a:t>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880360"/>
            <a:ext cx="233857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100" b="0" i="0">
                <a:solidFill>
                  <a:srgbClr val="F5F5F5"/>
                </a:solidFill>
                <a:latin typeface="IBM Plex Sans Arabic"/>
              </a:rPr>
              <a:t>رد عربي + المؤشر يطير على الحل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246120"/>
            <a:ext cx="233857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A3AF"/>
                </a:solidFill>
                <a:latin typeface="IBM Plex Sans Arabic"/>
              </a:rPr>
              <a:t>Arabic response + cursor flies to 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886200"/>
            <a:ext cx="10908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2200" b="1" i="0">
                <a:solidFill>
                  <a:srgbClr val="F5F5F5"/>
                </a:solidFill>
                <a:latin typeface="IBM Plex Sans Arabic"/>
              </a:rPr>
              <a:t>وكلاء يتعاونون كفريق متكامل لحل المشكلة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70832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9CA3AF"/>
                </a:solidFill>
                <a:latin typeface="IBM Plex Sans Arabic"/>
              </a:rPr>
              <a:t>Four agents collaborating as one team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600" b="0" i="0">
                <a:solidFill>
                  <a:srgbClr val="F5F5F5"/>
                </a:solidFill>
                <a:latin typeface="IBM Plex Sans Arabic"/>
              </a:rPr>
              <a:t>الذاكرة قد تخبر المُحلِّل بتجاوز التشخيص لأن المشكلة معروفة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600" b="0" i="0">
                <a:solidFill>
                  <a:srgbClr val="F5F5F5"/>
                </a:solidFill>
                <a:latin typeface="IBM Plex Sans Arabic"/>
              </a:rPr>
              <a:t>الحارس قد يرفض اقتراح المُحلِّل ويرغمه على البحث عن بديل آمن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600" b="0" i="0">
                <a:solidFill>
                  <a:srgbClr val="F5F5F5"/>
                </a:solidFill>
                <a:latin typeface="IBM Plex Sans Arabic"/>
              </a:rPr>
              <a:t>المُبلِّغ قد يربط الطلب بحادثة جماعية قائمة بدلاً من إنشاء تذكرة جديدة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4400" b="1" i="0">
                <a:solidFill>
                  <a:srgbClr val="F5F5F5"/>
                </a:solidFill>
                <a:latin typeface="IBM Plex Sans Arabic"/>
              </a:rPr>
              <a:t>لماذا نحن مختلفون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i="0">
                <a:solidFill>
                  <a:srgbClr val="9CA3AF"/>
                </a:solidFill>
                <a:latin typeface="IBM Plex Sans Arabic"/>
              </a:rPr>
              <a:t>Why We 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76" y="1828800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79108" y="2075688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F5F5F5"/>
                </a:solidFill>
                <a:latin typeface="IBM Plex Sans Arabic"/>
              </a:rPr>
              <a:t>Truly Multi-Agent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9108" y="2468880"/>
            <a:ext cx="47137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1">
                <a:solidFill>
                  <a:srgbClr val="9CA3AF"/>
                </a:solidFill>
                <a:latin typeface="IBM Plex Sans Arabic"/>
              </a:rPr>
              <a:t>تعاون حقيقي بين الوكلاء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9108" y="2834640"/>
            <a:ext cx="47137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5F5F5"/>
                </a:solidFill>
                <a:latin typeface="IBM Plex Sans Arabic"/>
              </a:rPr>
              <a:t>أربعة وكلاء يتعاونون كفريق متكامل لحل المشكلة. الذاكرة تخبر المُحلِّل بما هو معروف، الحارس يعدّل الخطة عند الحاجة، والمُبلِّغ يعيد توجيه المسار بالكامل عند اكتشاف نمط جماعي.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F5F5F5"/>
                </a:solidFill>
                <a:latin typeface="IBM Plex Sans Arabic"/>
              </a:rPr>
              <a:t>Arabic-First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68880"/>
            <a:ext cx="47137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1">
                <a:solidFill>
                  <a:srgbClr val="9CA3AF"/>
                </a:solidFill>
                <a:latin typeface="IBM Plex Sans Arabic"/>
              </a:rPr>
              <a:t>مصمَّم للعربية أولاً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34640"/>
            <a:ext cx="47137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5F5F5"/>
                </a:solidFill>
                <a:latin typeface="IBM Plex Sans Arabic"/>
              </a:rPr>
              <a:t>تصميم مبني من الأساس للسياق السعودي. واجهة RTL كاملة، وفهم للمصطلحات التقنية الإنجليزية كما يستخدمها الموظف السعودي طبيعياً في كلامه اليومي.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3076" y="3721608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9108" y="3968496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F5F5F5"/>
                </a:solidFill>
                <a:latin typeface="IBM Plex Sans Arabic"/>
              </a:rPr>
              <a:t>NCA-Compliant by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9108" y="4361688"/>
            <a:ext cx="47137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1">
                <a:solidFill>
                  <a:srgbClr val="9CA3AF"/>
                </a:solidFill>
                <a:latin typeface="IBM Plex Sans Arabic"/>
              </a:rPr>
              <a:t>متوافق مع NCA افتراضياً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9108" y="4727448"/>
            <a:ext cx="47137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5F5F5"/>
                </a:solidFill>
                <a:latin typeface="IBM Plex Sans Arabic"/>
              </a:rPr>
              <a:t>سجل مدقَّق لكل عملية يطابق Essential Cybersecurity Controls — جزء أساسي من تصميم الـ Reporter agent منذ اليوم الأول، لا ميزة لاحقة.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21608"/>
            <a:ext cx="522579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68496"/>
            <a:ext cx="47137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1" i="0">
                <a:solidFill>
                  <a:srgbClr val="F5F5F5"/>
                </a:solidFill>
                <a:latin typeface="IBM Plex Sans Arabic"/>
              </a:rPr>
              <a:t>Open-Source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61688"/>
            <a:ext cx="47137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400" b="0" i="1">
                <a:solidFill>
                  <a:srgbClr val="9CA3AF"/>
                </a:solidFill>
                <a:latin typeface="IBM Plex Sans Arabic"/>
              </a:rPr>
              <a:t>أساس مفتوح المصدر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727448"/>
            <a:ext cx="47137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5F5F5"/>
                </a:solidFill>
                <a:latin typeface="IBM Plex Sans Arabic"/>
              </a:rPr>
              <a:t>نظام شفاف بالكامل، لا قفل على بائع، وقابلية تطوير محلية للسوق السعودي.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1800" b="0" i="1">
                <a:solidFill>
                  <a:srgbClr val="F5F5F5"/>
                </a:solidFill>
                <a:latin typeface="IBM Plex Sans Arabic"/>
              </a:rPr>
              <a:t>“نظام دعم تقني عربي، يفهم شركتك، ويتعلم من كل بلاغ يحلّه.”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4400" b="1" i="0">
                <a:solidFill>
                  <a:srgbClr val="F5F5F5"/>
                </a:solidFill>
                <a:latin typeface="IBM Plex Sans Arabic"/>
              </a:rPr>
              <a:t>خارطة الطريق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i="0">
                <a:solidFill>
                  <a:srgbClr val="9CA3AF"/>
                </a:solidFill>
                <a:latin typeface="IBM Plex Sans Arabic"/>
              </a:rPr>
              <a:t>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77356" y="1783080"/>
            <a:ext cx="4539996" cy="46634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77356" y="1783080"/>
            <a:ext cx="4539996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5956" y="2029968"/>
            <a:ext cx="40827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b="1" i="0">
                <a:solidFill>
                  <a:srgbClr val="FBBF24"/>
                </a:solidFill>
                <a:latin typeface="IBM Plex Sans Arabic"/>
              </a:rPr>
              <a:t>الهاكاثون — ٣ أيام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956" y="2496312"/>
            <a:ext cx="40827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Sans Arabic"/>
              </a:rPr>
              <a:t>Hackathon — 3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956" y="306324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BBF24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تشغيل الوكلاء الأربعة على Claude Sonnet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956" y="361188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BBF24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بناء طبقة الاسترجاع (RAG) للسياسات وسجل البلاغات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956" y="416052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BBF24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سيناريو VPN متعدد المستخدمين كاملاً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956" y="470916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BBF24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سيناريو رفض الحارس لتثبيت برنامج غير معتمد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956" y="525780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FBBF24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ديمو يعمل من البداية للنهاية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1783080"/>
            <a:ext cx="4539996" cy="46634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1783080"/>
            <a:ext cx="4539996" cy="54864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2029968"/>
            <a:ext cx="408279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500" b="1" i="0">
                <a:solidFill>
                  <a:srgbClr val="9CA3AF"/>
                </a:solidFill>
                <a:latin typeface="IBM Plex Sans Arabic"/>
              </a:rPr>
              <a:t>ما بعد الهاكاثون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496312"/>
            <a:ext cx="40827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Sans Arabic"/>
              </a:rPr>
              <a:t>Beyond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06324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نشر تجريبي داخل شركة سعودية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61188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تكامل مع Slack و Teams و Email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6052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لوحة امتثال NCA للمسؤول الأمني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0916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تحليلات للفريق التقني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257800"/>
            <a:ext cx="40827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1200" b="0" i="0">
                <a:solidFill>
                  <a:srgbClr val="9CA3AF"/>
                </a:solidFill>
                <a:latin typeface="IBM Plex Sans Arabic"/>
              </a:rPr>
              <a:t>●  </a:t>
            </a:r>
            <a:r>
              <a:rPr sz="1300" b="0" i="0">
                <a:solidFill>
                  <a:srgbClr val="F5F5F5"/>
                </a:solidFill>
                <a:latin typeface="IBM Plex Sans Arabic"/>
              </a:rPr>
              <a:t>نسخة SaaS متعددة المستأجرين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114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4400" b="1" i="0">
                <a:solidFill>
                  <a:srgbClr val="F5F5F5"/>
                </a:solidFill>
                <a:latin typeface="IBM Plex Sans Arabic"/>
              </a:rPr>
              <a:t>الفريق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88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800" b="0" i="0">
                <a:solidFill>
                  <a:srgbClr val="9CA3AF"/>
                </a:solidFill>
                <a:latin typeface="IBM Plex Sans Arabic"/>
              </a:rPr>
              <a:t>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68796" y="2103120"/>
            <a:ext cx="518007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43116" y="2606040"/>
            <a:ext cx="46314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5F5F5"/>
                </a:solidFill>
                <a:latin typeface="IBM Plex Sans Arabic"/>
              </a:rPr>
              <a:t>Haneen Aldossari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43116" y="315468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IBM Plex Sans Arabic"/>
              </a:rPr>
              <a:t>CS student at PSAU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180076" cy="1691640"/>
          </a:xfrm>
          <a:prstGeom prst="roundRect">
            <a:avLst>
              <a:gd name="adj" fmla="val 4000"/>
            </a:avLst>
          </a:prstGeom>
          <a:solidFill>
            <a:srgbClr val="121212"/>
          </a:solidFill>
          <a:ln w="9525">
            <a:solidFill>
              <a:srgbClr val="1F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463143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5F5F5"/>
                </a:solidFill>
                <a:latin typeface="IBM Plex Sans Arabic"/>
              </a:rPr>
              <a:t>Noura Aldossari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6314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IBM Plex Sans Arabic"/>
              </a:rPr>
              <a:t>CS student at PSAU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087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2800" b="1" i="0">
                <a:solidFill>
                  <a:srgbClr val="F5F5F5"/>
                </a:solidFill>
                <a:latin typeface="IBM Plex Sans Arabic"/>
              </a:rPr>
              <a:t>نظام دعم تقني عربي، مصمَّم للسوق السعودي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/>
            <a:r>
              <a:rPr sz="2000" b="0" i="0">
                <a:solidFill>
                  <a:srgbClr val="F5F5F5"/>
                </a:solidFill>
                <a:latin typeface="IBM Plex Sans Arabic"/>
              </a:rPr>
              <a:t>متوافق مع رؤية ٢٠٣٠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9CA3AF"/>
                </a:solidFill>
                <a:latin typeface="IBM Plex Sans Arabic"/>
              </a:rPr>
              <a:t>Saudi-first IT support, built for Vision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