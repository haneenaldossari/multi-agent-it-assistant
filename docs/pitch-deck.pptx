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502920"/>
            <a:ext cx="8531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Agenticthon — Multi-Agent Systems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455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5600" b="1" i="0">
                <a:solidFill>
                  <a:srgbClr val="F5F5F5"/>
                </a:solidFill>
                <a:latin typeface="IBM Plex Sans Arabic"/>
              </a:rPr>
              <a:t>المساعد التقني متعدد الوكلاء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834640"/>
            <a:ext cx="8531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9CA3AF"/>
                </a:solidFill>
                <a:latin typeface="IBM Plex Sans Arabic"/>
              </a:rPr>
              <a:t>Multi-Agent IT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204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2200" b="0" i="1">
                <a:solidFill>
                  <a:srgbClr val="F5F5F5"/>
                </a:solidFill>
                <a:latin typeface="IBM Plex Sans Arabic"/>
              </a:rPr>
              <a:t>نظام عصبي ذكي للدعم التقني المؤسسي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69080"/>
            <a:ext cx="8531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An AI nervous system for Saudi enterprise IT support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2876" y="5349240"/>
            <a:ext cx="2743200" cy="0"/>
          </a:xfrm>
          <a:prstGeom prst="line">
            <a:avLst/>
          </a:prstGeom>
          <a:ln w="9525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640580" y="5266944"/>
            <a:ext cx="164592" cy="164592"/>
          </a:xfrm>
          <a:prstGeom prst="ellipse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4980" y="5266944"/>
            <a:ext cx="164592" cy="164592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69380" y="5266944"/>
            <a:ext cx="164592" cy="164592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83780" y="5266944"/>
            <a:ext cx="164592" cy="164592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5852160"/>
            <a:ext cx="8531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5F5F5"/>
                </a:solidFill>
                <a:latin typeface="IBM Plex Sans Arabic"/>
              </a:rPr>
              <a:t>Haneen Aldossari    •    Noura Aldossari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8531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  <a:latin typeface="IBM Plex Sans Arabic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المشكلة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087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800" b="0" i="1">
                <a:solidFill>
                  <a:srgbClr val="F5F5F5"/>
                </a:solidFill>
                <a:latin typeface="IBM Plex Sans Arabic"/>
              </a:rPr>
              <a:t>“موظف يفتح تذكرة دعم لمشكلة بسيطة، وينتظر ٣ ساعات قبل أن تصل الإجابة. هذا واقع يومي في الشركات السعودية.”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900" b="1" i="0">
                <a:solidFill>
                  <a:srgbClr val="F5F5F5"/>
                </a:solidFill>
                <a:latin typeface="IBM Plex Sans Arabic"/>
              </a:rPr>
              <a:t>١.  مشاكل متكررة تستهلك ساعات الدعم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64408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1">
                <a:solidFill>
                  <a:srgbClr val="9CA3AF"/>
                </a:solidFill>
                <a:latin typeface="IBM Plex Sans Arabic"/>
              </a:rPr>
              <a:t>Repetitive tickets eat IT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38728"/>
            <a:ext cx="10908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9CA3AF"/>
                </a:solidFill>
                <a:latin typeface="IBM Plex Sans Arabic"/>
              </a:rPr>
              <a:t>٨٠٪ من التذاكر اليومية تتكرر — VPN، password، email sync. كل واحدة تأخذ ساعات، معظمها انتظار في طوابير.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900" b="1" i="0">
                <a:solidFill>
                  <a:srgbClr val="F5F5F5"/>
                </a:solidFill>
                <a:latin typeface="IBM Plex Sans Arabic"/>
              </a:rPr>
              <a:t>٢.  فجوة لغوية في الأدوات الحالية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1">
                <a:solidFill>
                  <a:srgbClr val="9CA3AF"/>
                </a:solidFill>
                <a:latin typeface="IBM Plex Sans Arabic"/>
              </a:rPr>
              <a:t>English-only tools miss the Saudi mix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90288"/>
            <a:ext cx="10908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9CA3AF"/>
                </a:solidFill>
                <a:latin typeface="IBM Plex Sans Arabic"/>
              </a:rPr>
              <a:t>الموظف يتحدث عربي ويستخدم المصطلحات التقنية بالإنجليزية بشكل طبيعي. الأدوات الموجودة لا تفهم هذا المزج المحلي.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83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900" b="1" i="0">
                <a:solidFill>
                  <a:srgbClr val="F5F5F5"/>
                </a:solidFill>
                <a:latin typeface="IBM Plex Sans Arabic"/>
              </a:rPr>
              <a:t>٣.  معرفة تضيع مع كل تذكرة تُحَل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67528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1">
                <a:solidFill>
                  <a:srgbClr val="9CA3AF"/>
                </a:solidFill>
                <a:latin typeface="IBM Plex Sans Arabic"/>
              </a:rPr>
              <a:t>No collective memory, no NCA audit trail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41848"/>
            <a:ext cx="10908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9CA3AF"/>
                </a:solidFill>
                <a:latin typeface="IBM Plex Sans Arabic"/>
              </a:rPr>
              <a:t>لا ذاكرة مؤسسية، لا اكتشاف للأنماط، ولا توثيق آلي لمتطلبات NCA Essential Cybersecurity Controls.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8076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النتيجة: شركات تنفق الملايين، موظفون محبَطون، وفرق IT غارقة في المتكرر بدلاً من الهندسة الحقيقية.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الحل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00" b="0" i="0">
                <a:solidFill>
                  <a:srgbClr val="F5F5F5"/>
                </a:solidFill>
                <a:latin typeface="IBM Plex Sans Arabic"/>
              </a:rPr>
              <a:t>مساعد دعم تقني ذكي يعيش على شاشة الموظف ويتفاعل معه بالعربية والإنجليزية. يضغط زراً واحداً، يصف مشكلته بصوته، ويحصل على إرشاد بصري وتوجيه فوري بلغته.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b="0" i="0">
                <a:solidFill>
                  <a:srgbClr val="9CA3AF"/>
                </a:solidFill>
                <a:latin typeface="IBM Plex Sans Arabic"/>
              </a:rPr>
              <a:t>خلف الكواليس، أربعة وكلاء يتعاونون كفريق متكامل لحل المشكلة: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3076" y="2971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3076" y="2971800"/>
            <a:ext cx="5225796" cy="54864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79108" y="3218688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4A9EFF"/>
                </a:solidFill>
                <a:latin typeface="IBM Plex Sans Arabic"/>
              </a:rPr>
              <a:t>وكيل الذاكرة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9108" y="3685032"/>
            <a:ext cx="47137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9108" y="4050792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يستذكر البلاغات السابقة ويكتشف الأنماط في الشركة. يربط البلاغات المتعددة عبر موظفين مختلفين لاكتشاف الحوادث الجماعية.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71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971800"/>
            <a:ext cx="5225796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218688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4ADE80"/>
                </a:solidFill>
                <a:latin typeface="IBM Plex Sans Arabic"/>
              </a:rPr>
              <a:t>وكيل المُحلِّل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685032"/>
            <a:ext cx="47137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Resolver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050792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يقرأ الشاشة، يفهم سؤال الموظف، ويقترح خطوة عملية واضحة مع تحديد الموقع الذي يجب الضغط عليه.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3076" y="4864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3076" y="4864608"/>
            <a:ext cx="5225796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79108" y="5111496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F87171"/>
                </a:solidFill>
                <a:latin typeface="IBM Plex Sans Arabic"/>
              </a:rPr>
              <a:t>وكيل الحارس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9108" y="5577840"/>
            <a:ext cx="47137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Guardian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9108" y="5943600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يراجع كل إجراء أمام سياسات الشركة وضوابط الـ NCA قبل تنفيذه. يملك صلاحية رفض الإجراءات الخطرة واقتراح بدائل آمنة.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64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864608"/>
            <a:ext cx="5225796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111496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200" b="1" i="0">
                <a:solidFill>
                  <a:srgbClr val="A78BFA"/>
                </a:solidFill>
                <a:latin typeface="IBM Plex Sans Arabic"/>
              </a:rPr>
              <a:t>وكيل المُبلِّغ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577840"/>
            <a:ext cx="47137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9CA3AF"/>
                </a:solidFill>
                <a:latin typeface="IBM Plex Sans Arabic"/>
              </a:rPr>
              <a:t>Reporter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943600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b="0" i="0">
                <a:solidFill>
                  <a:srgbClr val="F5F5F5"/>
                </a:solidFill>
                <a:latin typeface="IBM Plex Sans Arabic"/>
              </a:rPr>
              <a:t>يجمّع الرد النهائي للموظف ويُنبّه الفريق المختص تلقائياً، ويولّد سجلاً مدقَّقاً لكل عملية يطابق متطلبات NCA.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كيف يعمل النظام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How It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64574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56014" y="2148840"/>
            <a:ext cx="2338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المستخدم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6014" y="25603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6014" y="2880360"/>
            <a:ext cx="2338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يضغط hotkey ويصف المشكلة بصوته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6014" y="32461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Sans Arabic"/>
              </a:rPr>
              <a:t>User presses hotkey, speaks Arabic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8814" y="2606040"/>
            <a:ext cx="365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0" i="0">
                <a:solidFill>
                  <a:srgbClr val="9CA3AF"/>
                </a:solidFill>
                <a:latin typeface="IBM Plex Sans Arabic"/>
              </a:rPr>
              <a:t>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7356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8796" y="2148840"/>
            <a:ext cx="2338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التقاط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5603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2880360"/>
            <a:ext cx="2338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لقطة شاشة + تحويل صوت لنص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8796" y="32461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Sans Arabic"/>
              </a:rPr>
              <a:t>Screenshot + voice-to-text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1596" y="2606040"/>
            <a:ext cx="365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0" i="0">
                <a:solidFill>
                  <a:srgbClr val="9CA3AF"/>
                </a:solidFill>
                <a:latin typeface="IBM Plex Sans Arabic"/>
              </a:rPr>
              <a:t>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90138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81578" y="2148840"/>
            <a:ext cx="2338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الوكلاء يتعاونون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1578" y="25603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Agents Collaborate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1578" y="2880360"/>
            <a:ext cx="2338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Memory → Resolver → Guardian → Reporter</a:t>
            </a:r>
          </a:p>
        </p:txBody>
      </p:sp>
      <p:sp>
        <p:nvSpPr>
          <p:cNvPr id="21" name="Oval 20"/>
          <p:cNvSpPr/>
          <p:nvPr/>
        </p:nvSpPr>
        <p:spPr>
          <a:xfrm>
            <a:off x="4349115" y="3282696"/>
            <a:ext cx="109728" cy="109728"/>
          </a:xfrm>
          <a:prstGeom prst="ellipse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13707" y="328269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78299" y="3282696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42891" y="3282696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4378" y="2606040"/>
            <a:ext cx="365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0" i="0">
                <a:solidFill>
                  <a:srgbClr val="9CA3AF"/>
                </a:solidFill>
                <a:latin typeface="IBM Plex Sans Arabic"/>
              </a:rPr>
              <a:t>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1920240"/>
            <a:ext cx="2521458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148840"/>
            <a:ext cx="2338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b="1" i="0">
                <a:solidFill>
                  <a:srgbClr val="F5F5F5"/>
                </a:solidFill>
                <a:latin typeface="IBM Plex Sans Arabic"/>
              </a:rPr>
              <a:t>الاستجابة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25603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IBM Plex Sans Arabic"/>
              </a:rPr>
              <a:t>Response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880360"/>
            <a:ext cx="2338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100" b="0" i="0">
                <a:solidFill>
                  <a:srgbClr val="F5F5F5"/>
                </a:solidFill>
                <a:latin typeface="IBM Plex Sans Arabic"/>
              </a:rPr>
              <a:t>رد عربي + المؤشر يطير على الحل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246120"/>
            <a:ext cx="2338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IBM Plex Sans Arabic"/>
              </a:rPr>
              <a:t>Arabic response + cursor flies to solution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886200"/>
            <a:ext cx="10908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2200" b="1" i="0">
                <a:solidFill>
                  <a:srgbClr val="F5F5F5"/>
                </a:solidFill>
                <a:latin typeface="IBM Plex Sans Arabic"/>
              </a:rPr>
              <a:t>وكلاء يتعاونون كفريق متكامل لحل المشكلة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370832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9CA3AF"/>
                </a:solidFill>
                <a:latin typeface="IBM Plex Sans Arabic"/>
              </a:rPr>
              <a:t>Four agents collaborating as one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600" b="0" i="0">
                <a:solidFill>
                  <a:srgbClr val="F5F5F5"/>
                </a:solidFill>
                <a:latin typeface="IBM Plex Sans Arabic"/>
              </a:rPr>
              <a:t>الذاكرة قد تخبر المُحلِّل بتجاوز التشخيص لأن المشكلة معروفة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600" b="0" i="0">
                <a:solidFill>
                  <a:srgbClr val="F5F5F5"/>
                </a:solidFill>
                <a:latin typeface="IBM Plex Sans Arabic"/>
              </a:rPr>
              <a:t>الحارس قد يرفض اقتراح المُحلِّل ويرغمه على البحث عن بديل آمن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600" b="0" i="0">
                <a:solidFill>
                  <a:srgbClr val="F5F5F5"/>
                </a:solidFill>
                <a:latin typeface="IBM Plex Sans Arabic"/>
              </a:rPr>
              <a:t>المُبلِّغ قد يربط الطلب بحادثة جماعية قائمة بدلاً من إنشاء تذكرة جديدة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لماذا نحن مختلفون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Why We Win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3076" y="1828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79108" y="2075688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Truly Multi-Agent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79108" y="2468880"/>
            <a:ext cx="47137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تعاون حقيقي بين الوكلاء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79108" y="2834640"/>
            <a:ext cx="47137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أربعة وكلاء يتعاونون كفريق متكامل لحل المشكلة. الذاكرة تخبر المُحلِّل بما هو معروف، الحارس يعدّل الخطة عند الحاجة، والمُبلِّغ يعيد توجيه المسار بالكامل عند اكتشاف نمط جماعي.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75688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Arabic-First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68880"/>
            <a:ext cx="47137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مصمَّم للعربية أولاً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834640"/>
            <a:ext cx="47137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تصميم مبني من الأساس للسياق السعودي. واجهة RTL كاملة، وفهم للمصطلحات التقنية الإنجليزية كما يستخدمها الموظف السعودي طبيعياً في كلامه اليومي.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3076" y="3721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9108" y="3968496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NCA-Compliant 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9108" y="4361688"/>
            <a:ext cx="47137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متوافق مع NCA افتراضياً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9108" y="4727448"/>
            <a:ext cx="47137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سجل مدقَّق لكل عملية يطابق Essential Cybersecurity Controls — جزء أساسي من تصميم الـ Reporter agent منذ اليوم الأول، لا ميزة لاحقة.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21608"/>
            <a:ext cx="522579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968496"/>
            <a:ext cx="47137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1" i="0">
                <a:solidFill>
                  <a:srgbClr val="F5F5F5"/>
                </a:solidFill>
                <a:latin typeface="IBM Plex Sans Arabic"/>
              </a:rPr>
              <a:t>Open-Source Foundation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361688"/>
            <a:ext cx="47137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400" b="0" i="1">
                <a:solidFill>
                  <a:srgbClr val="9CA3AF"/>
                </a:solidFill>
                <a:latin typeface="IBM Plex Sans Arabic"/>
              </a:rPr>
              <a:t>أساس مفتوح المصدر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727448"/>
            <a:ext cx="47137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0" i="0">
                <a:solidFill>
                  <a:srgbClr val="F5F5F5"/>
                </a:solidFill>
                <a:latin typeface="IBM Plex Sans Arabic"/>
              </a:rPr>
              <a:t>نظام شفاف بالكامل، لا قفل على بائع، وقابلية تطوير محلية للسوق السعودي.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800" b="0" i="1">
                <a:solidFill>
                  <a:srgbClr val="F5F5F5"/>
                </a:solidFill>
                <a:latin typeface="IBM Plex Sans Arabic"/>
              </a:rPr>
              <a:t>“نظام دعم تقني عربي، يفهم شركتك، ويتعلم من كل بلاغ يحلّه.”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خارطة الطريق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5488" y="1691640"/>
            <a:ext cx="3544824" cy="475488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5488" y="1691640"/>
            <a:ext cx="3544824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96656" y="1892808"/>
            <a:ext cx="31424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700" b="1" i="0">
                <a:solidFill>
                  <a:srgbClr val="4ADE80"/>
                </a:solidFill>
                <a:latin typeface="IBM Plex Sans Arabic"/>
              </a:rPr>
              <a:t>قبل الهاكاثون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96656" y="2331720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Sans Arabic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6656" y="2651760"/>
            <a:ext cx="31424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1" i="0">
                <a:solidFill>
                  <a:srgbClr val="4ADE80"/>
                </a:solidFill>
                <a:latin typeface="IBM Plex Sans Arabic"/>
              </a:rPr>
              <a:t>✅  مكتمل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96656" y="315468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DE80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تحليل السوق وتصميم البنية متعددة الوكلاء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656" y="370332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DE80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توثيق تقني كامل (PRD + Agent Specs)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6656" y="425196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DE80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Fork لـ Flicky وتعريب الواجهة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6656" y="480060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DE80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بناء Agent Panel البصري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2064" y="1691640"/>
            <a:ext cx="3544824" cy="475488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064" y="1691640"/>
            <a:ext cx="3544824" cy="54864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3232" y="1892808"/>
            <a:ext cx="31424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700" b="1" i="0">
                <a:solidFill>
                  <a:srgbClr val="4A9EFF"/>
                </a:solidFill>
                <a:latin typeface="IBM Plex Sans Arabic"/>
              </a:rPr>
              <a:t>خلال الهاكاثون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3232" y="2331720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Sans Arabic"/>
              </a:rPr>
              <a:t>During (3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3232" y="2651760"/>
            <a:ext cx="31424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1" i="0">
                <a:solidFill>
                  <a:srgbClr val="4A9EFF"/>
                </a:solidFill>
                <a:latin typeface="IBM Plex Sans Arabic"/>
              </a:rPr>
              <a:t>⏳  قيد التنفيذ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3232" y="315468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9EF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تفعيل الوكلاء الأربعة بـ Claude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3232" y="370332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9EF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بناء طبقة RAG لقاعدة معرفة الشركة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25196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9EF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سيناريو اكتشاف الحوادث الجماعية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3232" y="480060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9EF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سيناريو مراجعة Guardian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3232" y="534924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4A9EF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ديمو شغّال end-to-end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1691640"/>
            <a:ext cx="3544824" cy="475488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1691640"/>
            <a:ext cx="3544824" cy="5486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1892808"/>
            <a:ext cx="31424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700" b="1" i="0">
                <a:solidFill>
                  <a:srgbClr val="9CA3AF"/>
                </a:solidFill>
                <a:latin typeface="IBM Plex Sans Arabic"/>
              </a:rPr>
              <a:t>ما بعد الهاكاثون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2331720"/>
            <a:ext cx="314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Sans Arabic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2651760"/>
            <a:ext cx="31424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b="1" i="0">
                <a:solidFill>
                  <a:srgbClr val="9CA3AF"/>
                </a:solidFill>
                <a:latin typeface="IBM Plex Sans Arabic"/>
              </a:rPr>
              <a:t>🚀  مخطط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15468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Pilot مع شركة سعودية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70332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تكامل مع Slack و Teams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25196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لوحة تقارير NCA compliance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800600"/>
            <a:ext cx="31424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100" b="0" i="0">
                <a:solidFill>
                  <a:srgbClr val="9CA3AF"/>
                </a:solidFill>
                <a:latin typeface="IBM Plex Sans Arabic"/>
              </a:rPr>
              <a:t>●  </a:t>
            </a:r>
            <a:r>
              <a:rPr sz="1200" b="0" i="0">
                <a:solidFill>
                  <a:srgbClr val="F5F5F5"/>
                </a:solidFill>
                <a:latin typeface="IBM Plex Sans Arabic"/>
              </a:rPr>
              <a:t>نسخة SaaS متعددة المستأجرين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114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4400" b="1" i="0">
                <a:solidFill>
                  <a:srgbClr val="F5F5F5"/>
                </a:solidFill>
                <a:latin typeface="IBM Plex Sans Arabic"/>
              </a:rPr>
              <a:t>الفريق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>
                <a:solidFill>
                  <a:srgbClr val="9CA3AF"/>
                </a:solidFill>
                <a:latin typeface="IBM Plex Sans Arabic"/>
              </a:rPr>
              <a:t>The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68796" y="2103120"/>
            <a:ext cx="518007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43116" y="2606040"/>
            <a:ext cx="46314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5F5F5"/>
                </a:solidFill>
                <a:latin typeface="IBM Plex Sans Arabic"/>
              </a:rPr>
              <a:t>Haneen Aldossari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43116" y="315468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CS student at PSAU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180076" cy="1691640"/>
          </a:xfrm>
          <a:prstGeom prst="roundRect">
            <a:avLst>
              <a:gd name="adj" fmla="val 4000"/>
            </a:avLst>
          </a:prstGeom>
          <a:solidFill>
            <a:srgbClr val="121212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46314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5F5F5"/>
                </a:solidFill>
                <a:latin typeface="IBM Plex Sans Arabic"/>
              </a:rPr>
              <a:t>Noura Aldossari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IBM Plex Sans Arabic"/>
              </a:rPr>
              <a:t>CS student at PSAU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2800" b="1" i="0">
                <a:solidFill>
                  <a:srgbClr val="F5F5F5"/>
                </a:solidFill>
                <a:latin typeface="IBM Plex Sans Arabic"/>
              </a:rPr>
              <a:t>نظام دعم تقني عربي، مصمَّم للسوق السعودي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9087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2000" b="0" i="0">
                <a:solidFill>
                  <a:srgbClr val="F5F5F5"/>
                </a:solidFill>
                <a:latin typeface="IBM Plex Sans Arabic"/>
              </a:rPr>
              <a:t>متوافق مع رؤية ٢٠٣٠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9CA3AF"/>
                </a:solidFill>
                <a:latin typeface="IBM Plex Sans Arabic"/>
              </a:rPr>
              <a:t>Saudi-first IT support, built for Vision 2030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