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352"/>
    <p:restoredTop sz="94623"/>
  </p:normalViewPr>
  <p:slideViewPr>
    <p:cSldViewPr snapToGrid="0" snapToObjects="1">
      <p:cViewPr varScale="1">
        <p:scale>
          <a:sx n="101" d="100"/>
          <a:sy n="101" d="100"/>
        </p:scale>
        <p:origin x="904" y="19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828800" y="502920"/>
            <a:ext cx="853135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 i="0">
                <a:solidFill>
                  <a:srgbClr val="9CA3AF"/>
                </a:solidFill>
                <a:latin typeface="IBM Plex Sans Arabic"/>
              </a:rPr>
              <a:t>Agenticthon — Multi-Agent Systems Track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1274552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 rtl="1"/>
            <a:r>
              <a:rPr sz="5600" b="1" i="0">
                <a:solidFill>
                  <a:srgbClr val="F5F5F5"/>
                </a:solidFill>
                <a:latin typeface="IBM Plex Sans Arabic"/>
              </a:rPr>
              <a:t>المساعد التقني متعدد الوكلاء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2834640"/>
            <a:ext cx="853135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0" i="0">
                <a:solidFill>
                  <a:srgbClr val="9CA3AF"/>
                </a:solidFill>
                <a:latin typeface="IBM Plex Sans Arabic"/>
              </a:rPr>
              <a:t>Multi-Agent IT Assistant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3520440"/>
            <a:ext cx="944575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 rtl="1"/>
            <a:r>
              <a:rPr sz="2200" b="0" i="1">
                <a:solidFill>
                  <a:srgbClr val="F5F5F5"/>
                </a:solidFill>
                <a:latin typeface="IBM Plex Sans Arabic"/>
              </a:rPr>
              <a:t>نظام عصبي ذكي للدعم التقني المؤسسي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4069080"/>
            <a:ext cx="853135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 i="0">
                <a:solidFill>
                  <a:srgbClr val="9CA3AF"/>
                </a:solidFill>
                <a:latin typeface="IBM Plex Sans Arabic"/>
              </a:rPr>
              <a:t>An AI nervous system for Saudi enterprise IT support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722876" y="5349240"/>
            <a:ext cx="2743200" cy="0"/>
          </a:xfrm>
          <a:prstGeom prst="line">
            <a:avLst/>
          </a:prstGeom>
          <a:ln w="9525">
            <a:solidFill>
              <a:srgbClr val="1F1F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4640580" y="5266944"/>
            <a:ext cx="164592" cy="164592"/>
          </a:xfrm>
          <a:prstGeom prst="ellipse">
            <a:avLst/>
          </a:prstGeom>
          <a:solidFill>
            <a:srgbClr val="4A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5554980" y="5266944"/>
            <a:ext cx="164592" cy="164592"/>
          </a:xfrm>
          <a:prstGeom prst="ellipse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6469380" y="5266944"/>
            <a:ext cx="164592" cy="164592"/>
          </a:xfrm>
          <a:prstGeom prst="ellipse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7383780" y="5266944"/>
            <a:ext cx="164592" cy="164592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828800" y="5852160"/>
            <a:ext cx="853135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 i="0">
                <a:solidFill>
                  <a:srgbClr val="F5F5F5"/>
                </a:solidFill>
                <a:latin typeface="IBM Plex Sans Arabic"/>
              </a:rPr>
              <a:t>Haneen Aldossari    •    Noura Aldossari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6217920"/>
            <a:ext cx="85313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 i="0">
                <a:solidFill>
                  <a:srgbClr val="9CA3AF"/>
                </a:solidFill>
                <a:latin typeface="IBM Plex Sans Arabic"/>
              </a:rPr>
              <a:t>April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0" y="411480"/>
            <a:ext cx="493776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/>
            <a:r>
              <a:rPr sz="4400" b="1" i="0">
                <a:solidFill>
                  <a:srgbClr val="F5F5F5"/>
                </a:solidFill>
                <a:latin typeface="IBM Plex Sans Arabic"/>
              </a:rPr>
              <a:t>المشكلة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1188720"/>
            <a:ext cx="4937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800" b="0" i="0">
                <a:solidFill>
                  <a:srgbClr val="9CA3AF"/>
                </a:solidFill>
                <a:latin typeface="IBM Plex Sans Arabic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08792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/>
            <a:r>
              <a:rPr sz="1800" b="0" i="1">
                <a:solidFill>
                  <a:srgbClr val="F5F5F5"/>
                </a:solidFill>
                <a:latin typeface="IBM Plex Sans Arabic"/>
              </a:rPr>
              <a:t>“موظف يفتح تذكرة دعم لمشكلة بسيطة، وينتظر ٣ ساعات قبل أن تصل الإجابة. هذا واقع يومي في الشركات السعودية.”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880360"/>
            <a:ext cx="1090879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/>
            <a:r>
              <a:rPr sz="1900" b="1" i="0">
                <a:solidFill>
                  <a:srgbClr val="F5F5F5"/>
                </a:solidFill>
                <a:latin typeface="IBM Plex Sans Arabic"/>
              </a:rPr>
              <a:t>١.  مشاكل متكررة تستهلك ساعات الدعم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264408"/>
            <a:ext cx="1090879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1">
                <a:solidFill>
                  <a:srgbClr val="9CA3AF"/>
                </a:solidFill>
                <a:latin typeface="IBM Plex Sans Arabic"/>
              </a:rPr>
              <a:t>Repetitive tickets eat IT hours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38728"/>
            <a:ext cx="10908792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/>
            <a:r>
              <a:rPr sz="1300" b="0" i="0">
                <a:solidFill>
                  <a:srgbClr val="9CA3AF"/>
                </a:solidFill>
                <a:latin typeface="IBM Plex Sans Arabic"/>
              </a:rPr>
              <a:t>٨٠٪ من التذاكر اليومية تتكرر — VPN، password، email sync. كل واحدة تأخذ ساعات، معظمها انتظار في طوابير.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931920"/>
            <a:ext cx="1090879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/>
            <a:r>
              <a:rPr sz="1900" b="1" i="0">
                <a:solidFill>
                  <a:srgbClr val="F5F5F5"/>
                </a:solidFill>
                <a:latin typeface="IBM Plex Sans Arabic"/>
              </a:rPr>
              <a:t>٢.  فجوة لغوية في الأدوات الحالية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315968"/>
            <a:ext cx="1090879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1">
                <a:solidFill>
                  <a:srgbClr val="9CA3AF"/>
                </a:solidFill>
                <a:latin typeface="IBM Plex Sans Arabic"/>
              </a:rPr>
              <a:t>English-only tools miss the Saudi mix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590288"/>
            <a:ext cx="10908792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/>
            <a:r>
              <a:rPr sz="1300" b="0" i="0">
                <a:solidFill>
                  <a:srgbClr val="9CA3AF"/>
                </a:solidFill>
                <a:latin typeface="IBM Plex Sans Arabic"/>
              </a:rPr>
              <a:t>الموظف يتحدث عربي ويستخدم المصطلحات التقنية بالإنجليزية بشكل طبيعي. الأدوات الموجودة لا تفهم هذا المزج المحلي.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983480"/>
            <a:ext cx="1090879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/>
            <a:r>
              <a:rPr sz="1900" b="1" i="0">
                <a:solidFill>
                  <a:srgbClr val="F5F5F5"/>
                </a:solidFill>
                <a:latin typeface="IBM Plex Sans Arabic"/>
              </a:rPr>
              <a:t>٣.  معرفة تضيع مع كل تذكرة تُحَل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367528"/>
            <a:ext cx="1090879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1">
                <a:solidFill>
                  <a:srgbClr val="9CA3AF"/>
                </a:solidFill>
                <a:latin typeface="IBM Plex Sans Arabic"/>
              </a:rPr>
              <a:t>No collective memory, no NCA audit trail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641848"/>
            <a:ext cx="10908792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/>
            <a:r>
              <a:rPr sz="1300" b="0" i="0">
                <a:solidFill>
                  <a:srgbClr val="9CA3AF"/>
                </a:solidFill>
                <a:latin typeface="IBM Plex Sans Arabic"/>
              </a:rPr>
              <a:t>لا ذاكرة مؤسسية، لا اكتشاف للأنماط، ولا توثيق آلي لمتطلبات NCA Essential Cybersecurity Controls.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080760"/>
            <a:ext cx="1090879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/>
            <a:r>
              <a:rPr sz="1400" b="0" i="1">
                <a:solidFill>
                  <a:srgbClr val="9CA3AF"/>
                </a:solidFill>
                <a:latin typeface="IBM Plex Sans Arabic"/>
              </a:rPr>
              <a:t>النتيجة: شركات تنفق الملايين، موظفون محبَطون، وفرق IT غارقة في المتكرر بدلاً من الهندسة الحقيقية.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0" y="411480"/>
            <a:ext cx="493776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/>
            <a:r>
              <a:rPr sz="4400" b="1" i="0">
                <a:solidFill>
                  <a:srgbClr val="F5F5F5"/>
                </a:solidFill>
                <a:latin typeface="IBM Plex Sans Arabic"/>
              </a:rPr>
              <a:t>الحل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1188720"/>
            <a:ext cx="4937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800" b="0" i="0">
                <a:solidFill>
                  <a:srgbClr val="9CA3AF"/>
                </a:solidFill>
                <a:latin typeface="IBM Plex Sans Arabic"/>
              </a:rPr>
              <a:t>The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90879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/>
            <a:r>
              <a:rPr sz="1600" b="0" i="0">
                <a:solidFill>
                  <a:srgbClr val="F5F5F5"/>
                </a:solidFill>
                <a:latin typeface="IBM Plex Sans Arabic"/>
              </a:rPr>
              <a:t>مساعد دعم تقني ذكي يعيش على شاشة الموظف ويتفاعل معه بالعربية والإنجليزية. يضغط زراً واحداً، يصف مشكلته بصوته، ويحصل على إرشاد بصري وتوجيه فوري بلغته.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423160"/>
            <a:ext cx="1090879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 rtl="1"/>
            <a:r>
              <a:rPr sz="1600" b="0" i="0">
                <a:solidFill>
                  <a:srgbClr val="9CA3AF"/>
                </a:solidFill>
                <a:latin typeface="IBM Plex Sans Arabic"/>
              </a:rPr>
              <a:t>خلف الكواليس، أربعة وكلاء يتعاونون كفريق متكامل لحل المشكلة: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23076" y="2971800"/>
            <a:ext cx="5225796" cy="1691640"/>
          </a:xfrm>
          <a:prstGeom prst="roundRect">
            <a:avLst>
              <a:gd name="adj" fmla="val 4000"/>
            </a:avLst>
          </a:prstGeom>
          <a:solidFill>
            <a:srgbClr val="121212"/>
          </a:solidFill>
          <a:ln w="9525">
            <a:solidFill>
              <a:srgbClr val="1F1F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323076" y="2971800"/>
            <a:ext cx="5225796" cy="54864"/>
          </a:xfrm>
          <a:prstGeom prst="rect">
            <a:avLst/>
          </a:prstGeom>
          <a:solidFill>
            <a:srgbClr val="4A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579108" y="3218688"/>
            <a:ext cx="471373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/>
            <a:r>
              <a:rPr sz="2200" b="1" i="0">
                <a:solidFill>
                  <a:srgbClr val="4A9EFF"/>
                </a:solidFill>
                <a:latin typeface="IBM Plex Sans Arabic"/>
              </a:rPr>
              <a:t>وكيل الذاكرة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79108" y="3685032"/>
            <a:ext cx="4713732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300" b="0" i="0">
                <a:solidFill>
                  <a:srgbClr val="9CA3AF"/>
                </a:solidFill>
                <a:latin typeface="IBM Plex Sans Arabic"/>
              </a:rPr>
              <a:t>Memory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79108" y="4050792"/>
            <a:ext cx="471373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/>
            <a:r>
              <a:rPr sz="1300" b="0" i="0">
                <a:solidFill>
                  <a:srgbClr val="F5F5F5"/>
                </a:solidFill>
                <a:latin typeface="IBM Plex Sans Arabic"/>
              </a:rPr>
              <a:t>يستذكر البلاغات السابقة ويكتشف الأنماط في الشركة. يربط البلاغات المتعددة عبر موظفين مختلفين لاكتشاف الحوادث الجماعية.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971800"/>
            <a:ext cx="5225796" cy="1691640"/>
          </a:xfrm>
          <a:prstGeom prst="roundRect">
            <a:avLst>
              <a:gd name="adj" fmla="val 4000"/>
            </a:avLst>
          </a:prstGeom>
          <a:solidFill>
            <a:srgbClr val="121212"/>
          </a:solidFill>
          <a:ln w="9525">
            <a:solidFill>
              <a:srgbClr val="1F1F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40080" y="2971800"/>
            <a:ext cx="5225796" cy="54864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96112" y="3218688"/>
            <a:ext cx="471373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/>
            <a:r>
              <a:rPr sz="2200" b="1" i="0">
                <a:solidFill>
                  <a:srgbClr val="4ADE80"/>
                </a:solidFill>
                <a:latin typeface="IBM Plex Sans Arabic"/>
              </a:rPr>
              <a:t>وكيل المُحلِّل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" y="3685032"/>
            <a:ext cx="4713732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300" b="0" i="0">
                <a:solidFill>
                  <a:srgbClr val="9CA3AF"/>
                </a:solidFill>
                <a:latin typeface="IBM Plex Sans Arabic"/>
              </a:rPr>
              <a:t>Resolver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6112" y="4050792"/>
            <a:ext cx="471373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/>
            <a:r>
              <a:rPr sz="1300" b="0" i="0">
                <a:solidFill>
                  <a:srgbClr val="F5F5F5"/>
                </a:solidFill>
                <a:latin typeface="IBM Plex Sans Arabic"/>
              </a:rPr>
              <a:t>يقرأ الشاشة، يفهم سؤال الموظف، ويقترح خطوة عملية واضحة مع تحديد الموقع الذي يجب الضغط عليه.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23076" y="4864608"/>
            <a:ext cx="5225796" cy="1691640"/>
          </a:xfrm>
          <a:prstGeom prst="roundRect">
            <a:avLst>
              <a:gd name="adj" fmla="val 4000"/>
            </a:avLst>
          </a:prstGeom>
          <a:solidFill>
            <a:srgbClr val="121212"/>
          </a:solidFill>
          <a:ln w="9525">
            <a:solidFill>
              <a:srgbClr val="1F1F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323076" y="4864608"/>
            <a:ext cx="5225796" cy="54864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579108" y="5111496"/>
            <a:ext cx="471373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/>
            <a:r>
              <a:rPr sz="2200" b="1" i="0">
                <a:solidFill>
                  <a:srgbClr val="F87171"/>
                </a:solidFill>
                <a:latin typeface="IBM Plex Sans Arabic"/>
              </a:rPr>
              <a:t>وكيل الحارس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79108" y="5577840"/>
            <a:ext cx="4713732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300" b="0" i="0">
                <a:solidFill>
                  <a:srgbClr val="9CA3AF"/>
                </a:solidFill>
                <a:latin typeface="IBM Plex Sans Arabic"/>
              </a:rPr>
              <a:t>Guardian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79108" y="5943600"/>
            <a:ext cx="471373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/>
            <a:r>
              <a:rPr sz="1300" b="0" i="0">
                <a:solidFill>
                  <a:srgbClr val="F5F5F5"/>
                </a:solidFill>
                <a:latin typeface="IBM Plex Sans Arabic"/>
              </a:rPr>
              <a:t>يراجع كل إجراء أمام سياسات الشركة وضوابط الـ NCA قبل تنفيذه. يملك صلاحية رفض الإجراءات الخطرة واقتراح بدائل آمنة.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864608"/>
            <a:ext cx="5225796" cy="1691640"/>
          </a:xfrm>
          <a:prstGeom prst="roundRect">
            <a:avLst>
              <a:gd name="adj" fmla="val 4000"/>
            </a:avLst>
          </a:prstGeom>
          <a:solidFill>
            <a:srgbClr val="121212"/>
          </a:solidFill>
          <a:ln w="9525">
            <a:solidFill>
              <a:srgbClr val="1F1F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40080" y="4864608"/>
            <a:ext cx="5225796" cy="54864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96112" y="5111496"/>
            <a:ext cx="471373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/>
            <a:r>
              <a:rPr sz="2200" b="1" i="0">
                <a:solidFill>
                  <a:srgbClr val="A78BFA"/>
                </a:solidFill>
                <a:latin typeface="IBM Plex Sans Arabic"/>
              </a:rPr>
              <a:t>وكيل المُبلِّغ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6112" y="5577840"/>
            <a:ext cx="4713732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300" b="0" i="0">
                <a:solidFill>
                  <a:srgbClr val="9CA3AF"/>
                </a:solidFill>
                <a:latin typeface="IBM Plex Sans Arabic"/>
              </a:rPr>
              <a:t>Reporter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6112" y="5943600"/>
            <a:ext cx="471373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/>
            <a:r>
              <a:rPr sz="1300" b="0" i="0">
                <a:solidFill>
                  <a:srgbClr val="F5F5F5"/>
                </a:solidFill>
                <a:latin typeface="IBM Plex Sans Arabic"/>
              </a:rPr>
              <a:t>يجمّع الرد النهائي للموظف ويُنبّه الفريق المختص تلقائياً، ويولّد سجلاً مدقَّقاً لكل عملية يطابق متطلبات NCA.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0" y="411480"/>
            <a:ext cx="493776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/>
            <a:r>
              <a:rPr sz="4400" b="1" i="0">
                <a:solidFill>
                  <a:srgbClr val="F5F5F5"/>
                </a:solidFill>
                <a:latin typeface="IBM Plex Sans Arabic"/>
              </a:rPr>
              <a:t>كيف يعمل النظام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1188720"/>
            <a:ext cx="4937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800" b="0" i="0">
                <a:solidFill>
                  <a:srgbClr val="9CA3AF"/>
                </a:solidFill>
                <a:latin typeface="IBM Plex Sans Arabic"/>
              </a:rPr>
              <a:t>How It Works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64574" y="1920240"/>
            <a:ext cx="2521458" cy="1691640"/>
          </a:xfrm>
          <a:prstGeom prst="roundRect">
            <a:avLst>
              <a:gd name="adj" fmla="val 4000"/>
            </a:avLst>
          </a:prstGeom>
          <a:solidFill>
            <a:srgbClr val="121212"/>
          </a:solidFill>
          <a:ln w="9525">
            <a:solidFill>
              <a:srgbClr val="1F1F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256014" y="2148840"/>
            <a:ext cx="2338578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 rtl="1"/>
            <a:r>
              <a:rPr sz="1600" b="1" i="0">
                <a:solidFill>
                  <a:srgbClr val="F5F5F5"/>
                </a:solidFill>
                <a:latin typeface="IBM Plex Sans Arabic"/>
              </a:rPr>
              <a:t>المستخدم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56014" y="2560320"/>
            <a:ext cx="233857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 i="0">
                <a:solidFill>
                  <a:srgbClr val="9CA3AF"/>
                </a:solidFill>
                <a:latin typeface="IBM Plex Sans Arabic"/>
              </a:rPr>
              <a:t>User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56014" y="2880360"/>
            <a:ext cx="233857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 rtl="1"/>
            <a:r>
              <a:rPr sz="1100" b="0" i="0">
                <a:solidFill>
                  <a:srgbClr val="F5F5F5"/>
                </a:solidFill>
                <a:latin typeface="IBM Plex Sans Arabic"/>
              </a:rPr>
              <a:t>يضغط hotkey ويصف المشكلة بصوته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56014" y="3246120"/>
            <a:ext cx="233857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 i="0">
                <a:solidFill>
                  <a:srgbClr val="9CA3AF"/>
                </a:solidFill>
                <a:latin typeface="IBM Plex Sans Arabic"/>
              </a:rPr>
              <a:t>User presses hotkey, speaks Arabic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98814" y="2606040"/>
            <a:ext cx="3657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800" b="0" i="0">
                <a:solidFill>
                  <a:srgbClr val="9CA3AF"/>
                </a:solidFill>
                <a:latin typeface="IBM Plex Sans Arabic"/>
              </a:rPr>
              <a:t>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77356" y="1920240"/>
            <a:ext cx="2521458" cy="1691640"/>
          </a:xfrm>
          <a:prstGeom prst="roundRect">
            <a:avLst>
              <a:gd name="adj" fmla="val 4000"/>
            </a:avLst>
          </a:prstGeom>
          <a:solidFill>
            <a:srgbClr val="121212"/>
          </a:solidFill>
          <a:ln w="9525">
            <a:solidFill>
              <a:srgbClr val="1F1F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368796" y="2148840"/>
            <a:ext cx="2338578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 rtl="1"/>
            <a:r>
              <a:rPr sz="1600" b="1" i="0">
                <a:solidFill>
                  <a:srgbClr val="F5F5F5"/>
                </a:solidFill>
                <a:latin typeface="IBM Plex Sans Arabic"/>
              </a:rPr>
              <a:t>التقاط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68796" y="2560320"/>
            <a:ext cx="233857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 i="0">
                <a:solidFill>
                  <a:srgbClr val="9CA3AF"/>
                </a:solidFill>
                <a:latin typeface="IBM Plex Sans Arabic"/>
              </a:rPr>
              <a:t>Capture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8796" y="2880360"/>
            <a:ext cx="233857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 rtl="1"/>
            <a:r>
              <a:rPr sz="1100" b="0" i="0">
                <a:solidFill>
                  <a:srgbClr val="F5F5F5"/>
                </a:solidFill>
                <a:latin typeface="IBM Plex Sans Arabic"/>
              </a:rPr>
              <a:t>لقطة شاشة + تحويل صوت لنص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68796" y="3246120"/>
            <a:ext cx="233857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 i="0">
                <a:solidFill>
                  <a:srgbClr val="9CA3AF"/>
                </a:solidFill>
                <a:latin typeface="IBM Plex Sans Arabic"/>
              </a:rPr>
              <a:t>Screenshot + voice-to-text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11596" y="2606040"/>
            <a:ext cx="3657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800" b="0" i="0">
                <a:solidFill>
                  <a:srgbClr val="9CA3AF"/>
                </a:solidFill>
                <a:latin typeface="IBM Plex Sans Arabic"/>
              </a:rPr>
              <a:t>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90138" y="1920240"/>
            <a:ext cx="2521458" cy="1691640"/>
          </a:xfrm>
          <a:prstGeom prst="roundRect">
            <a:avLst>
              <a:gd name="adj" fmla="val 4000"/>
            </a:avLst>
          </a:prstGeom>
          <a:solidFill>
            <a:srgbClr val="121212"/>
          </a:solidFill>
          <a:ln w="9525">
            <a:solidFill>
              <a:srgbClr val="1F1F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481578" y="2148840"/>
            <a:ext cx="2338578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 rtl="1"/>
            <a:r>
              <a:rPr sz="1600" b="1" i="0">
                <a:solidFill>
                  <a:srgbClr val="F5F5F5"/>
                </a:solidFill>
                <a:latin typeface="IBM Plex Sans Arabic"/>
              </a:rPr>
              <a:t>الوكلاء يتعاونون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81578" y="2560320"/>
            <a:ext cx="233857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 i="0">
                <a:solidFill>
                  <a:srgbClr val="9CA3AF"/>
                </a:solidFill>
                <a:latin typeface="IBM Plex Sans Arabic"/>
              </a:rPr>
              <a:t>Agents Collaborate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81578" y="2880360"/>
            <a:ext cx="233857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 rtl="1"/>
            <a:r>
              <a:rPr sz="1100" b="0" i="0">
                <a:solidFill>
                  <a:srgbClr val="F5F5F5"/>
                </a:solidFill>
                <a:latin typeface="IBM Plex Sans Arabic"/>
              </a:rPr>
              <a:t>Memory → Resolver → Guardian → Reporter</a:t>
            </a:r>
          </a:p>
        </p:txBody>
      </p:sp>
      <p:sp>
        <p:nvSpPr>
          <p:cNvPr id="21" name="Oval 20"/>
          <p:cNvSpPr/>
          <p:nvPr/>
        </p:nvSpPr>
        <p:spPr>
          <a:xfrm>
            <a:off x="4349115" y="3282696"/>
            <a:ext cx="109728" cy="109728"/>
          </a:xfrm>
          <a:prstGeom prst="ellipse">
            <a:avLst/>
          </a:prstGeom>
          <a:solidFill>
            <a:srgbClr val="4A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4513707" y="3282696"/>
            <a:ext cx="109728" cy="109728"/>
          </a:xfrm>
          <a:prstGeom prst="ellipse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4678299" y="3282696"/>
            <a:ext cx="109728" cy="109728"/>
          </a:xfrm>
          <a:prstGeom prst="ellipse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4842891" y="3282696"/>
            <a:ext cx="109728" cy="109728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024378" y="2606040"/>
            <a:ext cx="3657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800" b="0" i="0">
                <a:solidFill>
                  <a:srgbClr val="9CA3AF"/>
                </a:solidFill>
                <a:latin typeface="IBM Plex Sans Arabic"/>
              </a:rPr>
              <a:t>←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1920240"/>
            <a:ext cx="2521458" cy="1691640"/>
          </a:xfrm>
          <a:prstGeom prst="roundRect">
            <a:avLst>
              <a:gd name="adj" fmla="val 4000"/>
            </a:avLst>
          </a:prstGeom>
          <a:solidFill>
            <a:srgbClr val="121212"/>
          </a:solidFill>
          <a:ln w="9525">
            <a:solidFill>
              <a:srgbClr val="1F1F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94360" y="2148840"/>
            <a:ext cx="2338578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 rtl="1"/>
            <a:r>
              <a:rPr sz="1600" b="1" i="0">
                <a:solidFill>
                  <a:srgbClr val="F5F5F5"/>
                </a:solidFill>
                <a:latin typeface="IBM Plex Sans Arabic"/>
              </a:rPr>
              <a:t>الاستجابة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" y="2560320"/>
            <a:ext cx="233857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 i="0">
                <a:solidFill>
                  <a:srgbClr val="9CA3AF"/>
                </a:solidFill>
                <a:latin typeface="IBM Plex Sans Arabic"/>
              </a:rPr>
              <a:t>Response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360" y="2880360"/>
            <a:ext cx="233857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 rtl="1"/>
            <a:r>
              <a:rPr sz="1100" b="0" i="0">
                <a:solidFill>
                  <a:srgbClr val="F5F5F5"/>
                </a:solidFill>
                <a:latin typeface="IBM Plex Sans Arabic"/>
              </a:rPr>
              <a:t>رد عربي + المؤشر يطير على الحل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" y="3246120"/>
            <a:ext cx="233857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 i="0">
                <a:solidFill>
                  <a:srgbClr val="9CA3AF"/>
                </a:solidFill>
                <a:latin typeface="IBM Plex Sans Arabic"/>
              </a:rPr>
              <a:t>Arabic response + cursor flies to solution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3886200"/>
            <a:ext cx="10908792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 rtl="1"/>
            <a:r>
              <a:rPr sz="2200" b="1" i="0">
                <a:solidFill>
                  <a:srgbClr val="F5F5F5"/>
                </a:solidFill>
                <a:latin typeface="IBM Plex Sans Arabic"/>
              </a:rPr>
              <a:t>وكلاء يتعاونون كفريق متكامل لحل المشكلة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4370832"/>
            <a:ext cx="10908792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00" b="0" i="1">
                <a:solidFill>
                  <a:srgbClr val="9CA3AF"/>
                </a:solidFill>
                <a:latin typeface="IBM Plex Sans Arabic"/>
              </a:rPr>
              <a:t>Four agents collaborating as one team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4937760"/>
            <a:ext cx="1090879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/>
            <a:r>
              <a:rPr sz="1400" b="0" i="0">
                <a:solidFill>
                  <a:srgbClr val="9CA3AF"/>
                </a:solidFill>
                <a:latin typeface="IBM Plex Sans Arabic"/>
              </a:rPr>
              <a:t>●  </a:t>
            </a:r>
            <a:r>
              <a:rPr sz="1600" b="0" i="0">
                <a:solidFill>
                  <a:srgbClr val="F5F5F5"/>
                </a:solidFill>
                <a:latin typeface="IBM Plex Sans Arabic"/>
              </a:rPr>
              <a:t>الذاكرة قد تخبر المُحلِّل بتجاوز التشخيص لأن المشكلة معروفة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5394960"/>
            <a:ext cx="1090879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/>
            <a:r>
              <a:rPr sz="1400" b="0" i="0">
                <a:solidFill>
                  <a:srgbClr val="9CA3AF"/>
                </a:solidFill>
                <a:latin typeface="IBM Plex Sans Arabic"/>
              </a:rPr>
              <a:t>●  </a:t>
            </a:r>
            <a:r>
              <a:rPr sz="1600" b="0" i="0">
                <a:solidFill>
                  <a:srgbClr val="F5F5F5"/>
                </a:solidFill>
                <a:latin typeface="IBM Plex Sans Arabic"/>
              </a:rPr>
              <a:t>الحارس قد يرفض اقتراح المُحلِّل ويرغمه على البحث عن بديل آمن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5852160"/>
            <a:ext cx="1090879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/>
            <a:r>
              <a:rPr sz="1400" b="0" i="0">
                <a:solidFill>
                  <a:srgbClr val="9CA3AF"/>
                </a:solidFill>
                <a:latin typeface="IBM Plex Sans Arabic"/>
              </a:rPr>
              <a:t>●  </a:t>
            </a:r>
            <a:r>
              <a:rPr sz="1600" b="0" i="0">
                <a:solidFill>
                  <a:srgbClr val="F5F5F5"/>
                </a:solidFill>
                <a:latin typeface="IBM Plex Sans Arabic"/>
              </a:rPr>
              <a:t>المُبلِّغ قد يربط الطلب بحادثة جماعية قائمة بدلاً من إنشاء تذكرة جديدة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0" y="411480"/>
            <a:ext cx="493776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/>
            <a:r>
              <a:rPr sz="4400" b="1" i="0">
                <a:solidFill>
                  <a:srgbClr val="F5F5F5"/>
                </a:solidFill>
                <a:latin typeface="IBM Plex Sans Arabic"/>
              </a:rPr>
              <a:t>لماذا نحن مختلفون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1188720"/>
            <a:ext cx="4937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800" b="0" i="0">
                <a:solidFill>
                  <a:srgbClr val="9CA3AF"/>
                </a:solidFill>
                <a:latin typeface="IBM Plex Sans Arabic"/>
              </a:rPr>
              <a:t>Why We Win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23076" y="1828800"/>
            <a:ext cx="5225796" cy="1691640"/>
          </a:xfrm>
          <a:prstGeom prst="roundRect">
            <a:avLst>
              <a:gd name="adj" fmla="val 4000"/>
            </a:avLst>
          </a:prstGeom>
          <a:solidFill>
            <a:srgbClr val="121212"/>
          </a:solidFill>
          <a:ln w="9525">
            <a:solidFill>
              <a:srgbClr val="1F1F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79108" y="2075688"/>
            <a:ext cx="471373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800" b="1" i="0">
                <a:solidFill>
                  <a:srgbClr val="F5F5F5"/>
                </a:solidFill>
                <a:latin typeface="IBM Plex Sans Arabic"/>
              </a:rPr>
              <a:t>Truly Multi-Agent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79108" y="2468880"/>
            <a:ext cx="471373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/>
            <a:r>
              <a:rPr sz="1400" b="0" i="1">
                <a:solidFill>
                  <a:srgbClr val="9CA3AF"/>
                </a:solidFill>
                <a:latin typeface="IBM Plex Sans Arabic"/>
              </a:rPr>
              <a:t>تعاون حقيقي بين الوكلاء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79108" y="2834640"/>
            <a:ext cx="4713732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/>
            <a:r>
              <a:rPr sz="1200" b="0" i="0">
                <a:solidFill>
                  <a:srgbClr val="F5F5F5"/>
                </a:solidFill>
                <a:latin typeface="IBM Plex Sans Arabic"/>
              </a:rPr>
              <a:t>أربعة وكلاء يتعاونون كفريق متكامل لحل المشكلة. الذاكرة تخبر المُحلِّل بما هو معروف، الحارس يعدّل الخطة عند الحاجة، والمُبلِّغ يعيد توجيه المسار بالكامل عند اكتشاف نمط جماعي.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5225796" cy="1691640"/>
          </a:xfrm>
          <a:prstGeom prst="roundRect">
            <a:avLst>
              <a:gd name="adj" fmla="val 4000"/>
            </a:avLst>
          </a:prstGeom>
          <a:solidFill>
            <a:srgbClr val="121212"/>
          </a:solidFill>
          <a:ln w="9525">
            <a:solidFill>
              <a:srgbClr val="1F1F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96112" y="2075688"/>
            <a:ext cx="471373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800" b="1" i="0">
                <a:solidFill>
                  <a:srgbClr val="F5F5F5"/>
                </a:solidFill>
                <a:latin typeface="IBM Plex Sans Arabic"/>
              </a:rPr>
              <a:t>Arabic-First Design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468880"/>
            <a:ext cx="471373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/>
            <a:r>
              <a:rPr sz="1400" b="0" i="1">
                <a:solidFill>
                  <a:srgbClr val="9CA3AF"/>
                </a:solidFill>
                <a:latin typeface="IBM Plex Sans Arabic"/>
              </a:rPr>
              <a:t>مصمَّم للعربية أولاً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2834640"/>
            <a:ext cx="4713732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/>
            <a:r>
              <a:rPr sz="1200" b="0" i="0">
                <a:solidFill>
                  <a:srgbClr val="F5F5F5"/>
                </a:solidFill>
                <a:latin typeface="IBM Plex Sans Arabic"/>
              </a:rPr>
              <a:t>تصميم مبني من الأساس للسياق السعودي. واجهة RTL كاملة، وفهم للمصطلحات التقنية الإنجليزية كما يستخدمها الموظف السعودي طبيعياً في كلامه اليومي.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23076" y="3721608"/>
            <a:ext cx="5225796" cy="1691640"/>
          </a:xfrm>
          <a:prstGeom prst="roundRect">
            <a:avLst>
              <a:gd name="adj" fmla="val 4000"/>
            </a:avLst>
          </a:prstGeom>
          <a:solidFill>
            <a:srgbClr val="121212"/>
          </a:solidFill>
          <a:ln w="9525">
            <a:solidFill>
              <a:srgbClr val="1F1F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579108" y="3968496"/>
            <a:ext cx="471373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800" b="1" i="0">
                <a:solidFill>
                  <a:srgbClr val="F5F5F5"/>
                </a:solidFill>
                <a:latin typeface="IBM Plex Sans Arabic"/>
              </a:rPr>
              <a:t>NCA-Compliant by Default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79108" y="4361688"/>
            <a:ext cx="471373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/>
            <a:r>
              <a:rPr sz="1400" b="0" i="1">
                <a:solidFill>
                  <a:srgbClr val="9CA3AF"/>
                </a:solidFill>
                <a:latin typeface="IBM Plex Sans Arabic"/>
              </a:rPr>
              <a:t>متوافق مع NCA افتراضياً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79108" y="4727448"/>
            <a:ext cx="4713732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/>
            <a:r>
              <a:rPr sz="1200" b="0" i="0">
                <a:solidFill>
                  <a:srgbClr val="F5F5F5"/>
                </a:solidFill>
                <a:latin typeface="IBM Plex Sans Arabic"/>
              </a:rPr>
              <a:t>سجل مدقَّق لكل عملية يطابق Essential Cybersecurity Controls — جزء أساسي من تصميم الـ Reporter agent منذ اليوم الأول، لا ميزة لاحقة.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721608"/>
            <a:ext cx="5225796" cy="1691640"/>
          </a:xfrm>
          <a:prstGeom prst="roundRect">
            <a:avLst>
              <a:gd name="adj" fmla="val 4000"/>
            </a:avLst>
          </a:prstGeom>
          <a:solidFill>
            <a:srgbClr val="121212"/>
          </a:solidFill>
          <a:ln w="9525">
            <a:solidFill>
              <a:srgbClr val="1F1F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96112" y="3968496"/>
            <a:ext cx="471373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800" b="1" i="0">
                <a:solidFill>
                  <a:srgbClr val="F5F5F5"/>
                </a:solidFill>
                <a:latin typeface="IBM Plex Sans Arabic"/>
              </a:rPr>
              <a:t>Open-Source Foundation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2" y="4361688"/>
            <a:ext cx="471373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/>
            <a:r>
              <a:rPr sz="1400" b="0" i="1">
                <a:solidFill>
                  <a:srgbClr val="9CA3AF"/>
                </a:solidFill>
                <a:latin typeface="IBM Plex Sans Arabic"/>
              </a:rPr>
              <a:t>أساس مفتوح المصدر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112" y="4727448"/>
            <a:ext cx="4713732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/>
            <a:r>
              <a:rPr sz="1200" b="0" i="0">
                <a:solidFill>
                  <a:srgbClr val="F5F5F5"/>
                </a:solidFill>
                <a:latin typeface="IBM Plex Sans Arabic"/>
              </a:rPr>
              <a:t>نظام شفاف بالكامل، لا قفل على بائع، وقابلية تطوير محلية للسوق السعودي.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989320"/>
            <a:ext cx="10908792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 rtl="1"/>
            <a:r>
              <a:rPr sz="1800" b="0" i="1">
                <a:solidFill>
                  <a:srgbClr val="F5F5F5"/>
                </a:solidFill>
                <a:latin typeface="IBM Plex Sans Arabic"/>
              </a:rPr>
              <a:t>“نظام دعم تقني عربي، يفهم شركتك، ويتعلم من كل بلاغ يحلّه.”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0" y="411480"/>
            <a:ext cx="493776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/>
            <a:r>
              <a:rPr sz="4400" b="1" i="0">
                <a:solidFill>
                  <a:srgbClr val="F5F5F5"/>
                </a:solidFill>
                <a:latin typeface="IBM Plex Sans Arabic"/>
              </a:rPr>
              <a:t>خارطة الطريق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1188720"/>
            <a:ext cx="4937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800" b="0" i="0">
                <a:solidFill>
                  <a:srgbClr val="9CA3AF"/>
                </a:solidFill>
                <a:latin typeface="IBM Plex Sans Arabic"/>
              </a:rPr>
              <a:t>Roadmap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95488" y="1691640"/>
            <a:ext cx="3544824" cy="4754880"/>
          </a:xfrm>
          <a:prstGeom prst="roundRect">
            <a:avLst>
              <a:gd name="adj" fmla="val 4000"/>
            </a:avLst>
          </a:prstGeom>
          <a:solidFill>
            <a:srgbClr val="121212"/>
          </a:solidFill>
          <a:ln w="9525">
            <a:solidFill>
              <a:srgbClr val="1F1F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8095488" y="1691640"/>
            <a:ext cx="3544824" cy="54864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96656" y="1892808"/>
            <a:ext cx="3142488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/>
            <a:r>
              <a:rPr sz="1700" b="1" i="0">
                <a:solidFill>
                  <a:srgbClr val="4ADE80"/>
                </a:solidFill>
                <a:latin typeface="IBM Plex Sans Arabic"/>
              </a:rPr>
              <a:t>قبل الهاكاثون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96656" y="2331720"/>
            <a:ext cx="314248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IBM Plex Sans Arabic"/>
              </a:rPr>
              <a:t>Before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96656" y="2651760"/>
            <a:ext cx="3142488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/>
            <a:r>
              <a:rPr sz="1200" b="1" i="0">
                <a:solidFill>
                  <a:srgbClr val="4ADE80"/>
                </a:solidFill>
                <a:latin typeface="IBM Plex Sans Arabic"/>
              </a:rPr>
              <a:t>✅  مكتمل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96656" y="3154680"/>
            <a:ext cx="3142488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/>
            <a:r>
              <a:rPr sz="1100" b="0" i="0">
                <a:solidFill>
                  <a:srgbClr val="4ADE80"/>
                </a:solidFill>
                <a:latin typeface="IBM Plex Sans Arabic"/>
              </a:rPr>
              <a:t>●  </a:t>
            </a:r>
            <a:r>
              <a:rPr sz="1200" b="0" i="0">
                <a:solidFill>
                  <a:srgbClr val="F5F5F5"/>
                </a:solidFill>
                <a:latin typeface="IBM Plex Sans Arabic"/>
              </a:rPr>
              <a:t>تحليل السوق وتصميم البنية متعددة الوكلاء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96656" y="3703320"/>
            <a:ext cx="3142488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/>
            <a:r>
              <a:rPr sz="1100" b="0" i="0">
                <a:solidFill>
                  <a:srgbClr val="4ADE80"/>
                </a:solidFill>
                <a:latin typeface="IBM Plex Sans Arabic"/>
              </a:rPr>
              <a:t>●  </a:t>
            </a:r>
            <a:r>
              <a:rPr sz="1200" b="0" i="0">
                <a:solidFill>
                  <a:srgbClr val="F5F5F5"/>
                </a:solidFill>
                <a:latin typeface="IBM Plex Sans Arabic"/>
              </a:rPr>
              <a:t>توثيق تقني كامل (PRD + Agent Specs)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96656" y="4251960"/>
            <a:ext cx="3142488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/>
            <a:r>
              <a:rPr sz="1100" b="0" i="0">
                <a:solidFill>
                  <a:srgbClr val="4ADE80"/>
                </a:solidFill>
                <a:latin typeface="IBM Plex Sans Arabic"/>
              </a:rPr>
              <a:t>●  </a:t>
            </a:r>
            <a:r>
              <a:rPr sz="1200" b="0" i="0">
                <a:solidFill>
                  <a:srgbClr val="F5F5F5"/>
                </a:solidFill>
                <a:latin typeface="IBM Plex Sans Arabic"/>
              </a:rPr>
              <a:t>Fork لـ Flicky وتعريب الواجهة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96656" y="4800600"/>
            <a:ext cx="3142488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/>
            <a:r>
              <a:rPr sz="1100" b="0" i="0">
                <a:solidFill>
                  <a:srgbClr val="4ADE80"/>
                </a:solidFill>
                <a:latin typeface="IBM Plex Sans Arabic"/>
              </a:rPr>
              <a:t>●  </a:t>
            </a:r>
            <a:r>
              <a:rPr sz="1200" b="0" i="0">
                <a:solidFill>
                  <a:srgbClr val="F5F5F5"/>
                </a:solidFill>
                <a:latin typeface="IBM Plex Sans Arabic"/>
              </a:rPr>
              <a:t>بناء Agent Panel البصري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22064" y="1691640"/>
            <a:ext cx="3544824" cy="4754880"/>
          </a:xfrm>
          <a:prstGeom prst="roundRect">
            <a:avLst>
              <a:gd name="adj" fmla="val 4000"/>
            </a:avLst>
          </a:prstGeom>
          <a:solidFill>
            <a:srgbClr val="121212"/>
          </a:solidFill>
          <a:ln w="9525">
            <a:solidFill>
              <a:srgbClr val="1F1F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322064" y="1691640"/>
            <a:ext cx="3544824" cy="54864"/>
          </a:xfrm>
          <a:prstGeom prst="rect">
            <a:avLst/>
          </a:prstGeom>
          <a:solidFill>
            <a:srgbClr val="4A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23232" y="1892808"/>
            <a:ext cx="3142488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/>
            <a:r>
              <a:rPr sz="1700" b="1" i="0">
                <a:solidFill>
                  <a:srgbClr val="4A9EFF"/>
                </a:solidFill>
                <a:latin typeface="IBM Plex Sans Arabic"/>
              </a:rPr>
              <a:t>خلال الهاكاثون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3232" y="2331720"/>
            <a:ext cx="314248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IBM Plex Sans Arabic"/>
              </a:rPr>
              <a:t>During (3 Days)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3232" y="2651760"/>
            <a:ext cx="3142488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/>
            <a:r>
              <a:rPr sz="1200" b="1" i="0">
                <a:solidFill>
                  <a:srgbClr val="4A9EFF"/>
                </a:solidFill>
                <a:latin typeface="IBM Plex Sans Arabic"/>
              </a:rPr>
              <a:t>⏳  قيد التنفيذ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23232" y="3154680"/>
            <a:ext cx="3142488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/>
            <a:r>
              <a:rPr sz="1100" b="0" i="0">
                <a:solidFill>
                  <a:srgbClr val="4A9EFF"/>
                </a:solidFill>
                <a:latin typeface="IBM Plex Sans Arabic"/>
              </a:rPr>
              <a:t>●  </a:t>
            </a:r>
            <a:r>
              <a:rPr sz="1200" b="0" i="0">
                <a:solidFill>
                  <a:srgbClr val="F5F5F5"/>
                </a:solidFill>
                <a:latin typeface="IBM Plex Sans Arabic"/>
              </a:rPr>
              <a:t>تفعيل الوكلاء الأربعة بـ Claude API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23232" y="3703320"/>
            <a:ext cx="3142488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/>
            <a:r>
              <a:rPr sz="1100" b="0" i="0">
                <a:solidFill>
                  <a:srgbClr val="4A9EFF"/>
                </a:solidFill>
                <a:latin typeface="IBM Plex Sans Arabic"/>
              </a:rPr>
              <a:t>●  </a:t>
            </a:r>
            <a:r>
              <a:rPr sz="1200" b="0" i="0">
                <a:solidFill>
                  <a:srgbClr val="F5F5F5"/>
                </a:solidFill>
                <a:latin typeface="IBM Plex Sans Arabic"/>
              </a:rPr>
              <a:t>بناء طبقة RAG لقاعدة معرفة الشركة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3232" y="4251960"/>
            <a:ext cx="3142488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/>
            <a:r>
              <a:rPr sz="1100" b="0" i="0">
                <a:solidFill>
                  <a:srgbClr val="4A9EFF"/>
                </a:solidFill>
                <a:latin typeface="IBM Plex Sans Arabic"/>
              </a:rPr>
              <a:t>●  </a:t>
            </a:r>
            <a:r>
              <a:rPr sz="1200" b="0" i="0">
                <a:solidFill>
                  <a:srgbClr val="F5F5F5"/>
                </a:solidFill>
                <a:latin typeface="IBM Plex Sans Arabic"/>
              </a:rPr>
              <a:t>سيناريو اكتشاف الحوادث الجماعية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3232" y="4800600"/>
            <a:ext cx="3142488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/>
            <a:r>
              <a:rPr sz="1100" b="0" i="0">
                <a:solidFill>
                  <a:srgbClr val="4A9EFF"/>
                </a:solidFill>
                <a:latin typeface="IBM Plex Sans Arabic"/>
              </a:rPr>
              <a:t>●  </a:t>
            </a:r>
            <a:r>
              <a:rPr sz="1200" b="0" i="0">
                <a:solidFill>
                  <a:srgbClr val="F5F5F5"/>
                </a:solidFill>
                <a:latin typeface="IBM Plex Sans Arabic"/>
              </a:rPr>
              <a:t>سيناريو مراجعة Guardian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3232" y="5349240"/>
            <a:ext cx="3142488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/>
            <a:r>
              <a:rPr sz="1100" b="0" i="0">
                <a:solidFill>
                  <a:srgbClr val="4A9EFF"/>
                </a:solidFill>
                <a:latin typeface="IBM Plex Sans Arabic"/>
              </a:rPr>
              <a:t>●  </a:t>
            </a:r>
            <a:r>
              <a:rPr sz="1200" b="0" i="0">
                <a:solidFill>
                  <a:srgbClr val="F5F5F5"/>
                </a:solidFill>
                <a:latin typeface="IBM Plex Sans Arabic"/>
              </a:rPr>
              <a:t>ديمو شغّال end-to-end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1691640"/>
            <a:ext cx="3544824" cy="4754880"/>
          </a:xfrm>
          <a:prstGeom prst="roundRect">
            <a:avLst>
              <a:gd name="adj" fmla="val 4000"/>
            </a:avLst>
          </a:prstGeom>
          <a:solidFill>
            <a:srgbClr val="121212"/>
          </a:solidFill>
          <a:ln w="9525">
            <a:solidFill>
              <a:srgbClr val="1F1F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548640" y="1691640"/>
            <a:ext cx="3544824" cy="54864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49808" y="1892808"/>
            <a:ext cx="3142488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/>
            <a:r>
              <a:rPr sz="1700" b="1" i="0">
                <a:solidFill>
                  <a:srgbClr val="9CA3AF"/>
                </a:solidFill>
                <a:latin typeface="IBM Plex Sans Arabic"/>
              </a:rPr>
              <a:t>ما بعد الهاكاثون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8" y="2331720"/>
            <a:ext cx="314248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IBM Plex Sans Arabic"/>
              </a:rPr>
              <a:t>After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8" y="2651760"/>
            <a:ext cx="3142488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/>
            <a:r>
              <a:rPr sz="1200" b="1" i="0">
                <a:solidFill>
                  <a:srgbClr val="9CA3AF"/>
                </a:solidFill>
                <a:latin typeface="IBM Plex Sans Arabic"/>
              </a:rPr>
              <a:t>🚀  مخطط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808" y="3154680"/>
            <a:ext cx="3142488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/>
            <a:r>
              <a:rPr sz="1100" b="0" i="0">
                <a:solidFill>
                  <a:srgbClr val="9CA3AF"/>
                </a:solidFill>
                <a:latin typeface="IBM Plex Sans Arabic"/>
              </a:rPr>
              <a:t>●  </a:t>
            </a:r>
            <a:r>
              <a:rPr sz="1200" b="0" i="0">
                <a:solidFill>
                  <a:srgbClr val="F5F5F5"/>
                </a:solidFill>
                <a:latin typeface="IBM Plex Sans Arabic"/>
              </a:rPr>
              <a:t>Pilot مع شركة سعودية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8" y="3703320"/>
            <a:ext cx="3142488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/>
            <a:r>
              <a:rPr sz="1100" b="0" i="0">
                <a:solidFill>
                  <a:srgbClr val="9CA3AF"/>
                </a:solidFill>
                <a:latin typeface="IBM Plex Sans Arabic"/>
              </a:rPr>
              <a:t>●  </a:t>
            </a:r>
            <a:r>
              <a:rPr sz="1200" b="0" i="0">
                <a:solidFill>
                  <a:srgbClr val="F5F5F5"/>
                </a:solidFill>
                <a:latin typeface="IBM Plex Sans Arabic"/>
              </a:rPr>
              <a:t>تكامل مع Slack و Teams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8" y="4251960"/>
            <a:ext cx="3142488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/>
            <a:r>
              <a:rPr sz="1100" b="0" i="0">
                <a:solidFill>
                  <a:srgbClr val="9CA3AF"/>
                </a:solidFill>
                <a:latin typeface="IBM Plex Sans Arabic"/>
              </a:rPr>
              <a:t>●  </a:t>
            </a:r>
            <a:r>
              <a:rPr sz="1200" b="0" i="0">
                <a:solidFill>
                  <a:srgbClr val="F5F5F5"/>
                </a:solidFill>
                <a:latin typeface="IBM Plex Sans Arabic"/>
              </a:rPr>
              <a:t>لوحة تقارير NCA compliance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8" y="4800600"/>
            <a:ext cx="3142488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/>
            <a:r>
              <a:rPr sz="1100" b="0" i="0">
                <a:solidFill>
                  <a:srgbClr val="9CA3AF"/>
                </a:solidFill>
                <a:latin typeface="IBM Plex Sans Arabic"/>
              </a:rPr>
              <a:t>●  </a:t>
            </a:r>
            <a:r>
              <a:rPr sz="1200" b="0" i="0">
                <a:solidFill>
                  <a:srgbClr val="F5F5F5"/>
                </a:solidFill>
                <a:latin typeface="IBM Plex Sans Arabic"/>
              </a:rPr>
              <a:t>نسخة SaaS متعددة المستأجرين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0" y="411480"/>
            <a:ext cx="493776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/>
            <a:r>
              <a:rPr sz="4400" b="1" i="0">
                <a:solidFill>
                  <a:srgbClr val="F5F5F5"/>
                </a:solidFill>
                <a:latin typeface="IBM Plex Sans Arabic"/>
              </a:rPr>
              <a:t>الفريق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1188720"/>
            <a:ext cx="4937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800" b="0" i="0">
                <a:solidFill>
                  <a:srgbClr val="9CA3AF"/>
                </a:solidFill>
                <a:latin typeface="IBM Plex Sans Arabic"/>
              </a:rPr>
              <a:t>The Team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68796" y="2103120"/>
            <a:ext cx="5180076" cy="1691640"/>
          </a:xfrm>
          <a:prstGeom prst="roundRect">
            <a:avLst>
              <a:gd name="adj" fmla="val 4000"/>
            </a:avLst>
          </a:prstGeom>
          <a:solidFill>
            <a:srgbClr val="121212"/>
          </a:solidFill>
          <a:ln w="9525">
            <a:solidFill>
              <a:srgbClr val="1F1F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643116" y="2606040"/>
            <a:ext cx="4631436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>
                <a:solidFill>
                  <a:srgbClr val="F5F5F5"/>
                </a:solidFill>
                <a:latin typeface="IBM Plex Sans Arabic"/>
              </a:rPr>
              <a:t>Haneen Aldossari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43116" y="3154680"/>
            <a:ext cx="46314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 i="0">
                <a:solidFill>
                  <a:srgbClr val="9CA3AF"/>
                </a:solidFill>
                <a:latin typeface="IBM Plex Sans Arabic"/>
              </a:rPr>
              <a:t>CS student at PSAU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103120"/>
            <a:ext cx="5180076" cy="1691640"/>
          </a:xfrm>
          <a:prstGeom prst="roundRect">
            <a:avLst>
              <a:gd name="adj" fmla="val 4000"/>
            </a:avLst>
          </a:prstGeom>
          <a:solidFill>
            <a:srgbClr val="121212"/>
          </a:solidFill>
          <a:ln w="9525">
            <a:solidFill>
              <a:srgbClr val="1F1F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14400" y="2606040"/>
            <a:ext cx="4631436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>
                <a:solidFill>
                  <a:srgbClr val="F5F5F5"/>
                </a:solidFill>
                <a:latin typeface="IBM Plex Sans Arabic"/>
              </a:rPr>
              <a:t>Noura Aldossari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54680"/>
            <a:ext cx="46314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 i="0">
                <a:solidFill>
                  <a:srgbClr val="9CA3AF"/>
                </a:solidFill>
                <a:latin typeface="IBM Plex Sans Arabic"/>
              </a:rPr>
              <a:t>CS student at PSAU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937760"/>
            <a:ext cx="1090879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 rtl="1"/>
            <a:r>
              <a:rPr sz="2800" b="1" i="0">
                <a:solidFill>
                  <a:srgbClr val="F5F5F5"/>
                </a:solidFill>
                <a:latin typeface="IBM Plex Sans Arabic"/>
              </a:rPr>
              <a:t>نظام دعم تقني عربي، مصمَّم للسوق السعودي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623560"/>
            <a:ext cx="1090879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 rtl="1"/>
            <a:r>
              <a:rPr sz="2000" b="0" i="0">
                <a:solidFill>
                  <a:srgbClr val="F5F5F5"/>
                </a:solidFill>
                <a:latin typeface="IBM Plex Sans Arabic"/>
              </a:rPr>
              <a:t>متوافق مع رؤية ٢٠٣٠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126480"/>
            <a:ext cx="1090879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00" b="0" i="1">
                <a:solidFill>
                  <a:srgbClr val="9CA3AF"/>
                </a:solidFill>
                <a:latin typeface="IBM Plex Sans Arabic"/>
              </a:rPr>
              <a:t>Saudi-first IT support, built for Vision 2030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690</Words>
  <Application>Microsoft Macintosh PowerPoint</Application>
  <PresentationFormat>Custom</PresentationFormat>
  <Paragraphs>109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Calibri</vt:lpstr>
      <vt:lpstr>IBM Plex Sans Arabic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haneen aldossari</cp:lastModifiedBy>
  <cp:revision>1</cp:revision>
  <dcterms:created xsi:type="dcterms:W3CDTF">2013-01-27T09:14:16Z</dcterms:created>
  <dcterms:modified xsi:type="dcterms:W3CDTF">2026-04-25T21:26:30Z</dcterms:modified>
  <cp:category/>
</cp:coreProperties>
</file>